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67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460" y="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10cefcd850_0_1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10cefcd850_0_1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ca144dc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ca144dc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ca144dc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ca144dc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7066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ca144dc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ca144dc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9299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ca144dc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ca144dc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009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ca144dc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ca144dc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9694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ca144dc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ca144dc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9020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ca144dc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ca144dc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82074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ca144dc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ca144dc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7781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ca144dc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ca144dc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2271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ca144dc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ca144dc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37047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ca144dc6c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4ca144dc6c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807000" y="1928125"/>
            <a:ext cx="7500300" cy="16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0B5394"/>
                </a:solidFill>
              </a:rPr>
              <a:t>Romanian NMA Training Placement Scheme </a:t>
            </a:r>
            <a:endParaRPr sz="2100" b="1" dirty="0">
              <a:solidFill>
                <a:srgbClr val="0B539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0B5394"/>
                </a:solidFill>
              </a:rPr>
              <a:t>Second semestrial scientific report, October 2025</a:t>
            </a:r>
            <a:endParaRPr sz="2100" b="1" dirty="0">
              <a:solidFill>
                <a:srgbClr val="0B539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 dirty="0">
              <a:solidFill>
                <a:srgbClr val="0B5394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801000" y="4778188"/>
            <a:ext cx="1766082" cy="36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0B5394"/>
                </a:solidFill>
              </a:rPr>
              <a:t>Bucharest, October 27</a:t>
            </a:r>
            <a:r>
              <a:rPr lang="en" sz="900" baseline="30000" dirty="0">
                <a:solidFill>
                  <a:srgbClr val="0B5394"/>
                </a:solidFill>
              </a:rPr>
              <a:t>th</a:t>
            </a:r>
            <a:r>
              <a:rPr lang="en" sz="900" dirty="0">
                <a:solidFill>
                  <a:srgbClr val="0B5394"/>
                </a:solidFill>
              </a:rPr>
              <a:t> 2025</a:t>
            </a:r>
            <a:endParaRPr sz="900" dirty="0">
              <a:solidFill>
                <a:srgbClr val="0B5394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044375" y="2739625"/>
            <a:ext cx="39150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B5394"/>
                </a:solidFill>
              </a:rPr>
              <a:t>Claudiu Adam, Eugen Mihuleț</a:t>
            </a:r>
            <a:endParaRPr sz="17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 rotWithShape="1">
          <a:blip r:embed="rId4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3800999" y="4798249"/>
            <a:ext cx="1703329" cy="221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B5394"/>
                </a:solidFill>
              </a:rPr>
              <a:t>Bucharest, October 27</a:t>
            </a:r>
            <a:r>
              <a:rPr lang="en-US" sz="900" baseline="30000" dirty="0">
                <a:solidFill>
                  <a:srgbClr val="0B5394"/>
                </a:solidFill>
              </a:rPr>
              <a:t>th</a:t>
            </a:r>
            <a:r>
              <a:rPr lang="en-US" sz="900" dirty="0">
                <a:solidFill>
                  <a:srgbClr val="0B5394"/>
                </a:solidFill>
              </a:rPr>
              <a:t> 2025</a:t>
            </a:r>
          </a:p>
        </p:txBody>
      </p:sp>
      <p:sp>
        <p:nvSpPr>
          <p:cNvPr id="68" name="Google Shape;68;p14"/>
          <p:cNvSpPr txBox="1"/>
          <p:nvPr/>
        </p:nvSpPr>
        <p:spPr>
          <a:xfrm>
            <a:off x="191500" y="750050"/>
            <a:ext cx="40992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0B5394"/>
                </a:solidFill>
              </a:rPr>
              <a:t>Content of the presentation</a:t>
            </a:r>
            <a:endParaRPr sz="1700" b="1">
              <a:solidFill>
                <a:srgbClr val="0B5394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91500" y="1331399"/>
            <a:ext cx="8761500" cy="3466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  <a:buChar char="●"/>
            </a:pPr>
            <a:r>
              <a:rPr lang="en-US" sz="1700" b="1" dirty="0">
                <a:solidFill>
                  <a:srgbClr val="0B5394"/>
                </a:solidFill>
              </a:rPr>
              <a:t>Data sources</a:t>
            </a: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  <a:buChar char="●"/>
            </a:pPr>
            <a:r>
              <a:rPr lang="en-US" sz="1700" b="1" dirty="0">
                <a:solidFill>
                  <a:srgbClr val="0B5394"/>
                </a:solidFill>
              </a:rPr>
              <a:t>Convective cell identification</a:t>
            </a: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  <a:buChar char="●"/>
            </a:pPr>
            <a:r>
              <a:rPr lang="en-US" sz="1700" b="1" dirty="0">
                <a:solidFill>
                  <a:srgbClr val="0B5394"/>
                </a:solidFill>
              </a:rPr>
              <a:t>Knowledge distillation strategy</a:t>
            </a: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  <a:buChar char="●"/>
            </a:pPr>
            <a:r>
              <a:rPr lang="en-US" sz="1700" b="1" dirty="0">
                <a:solidFill>
                  <a:srgbClr val="0B5394"/>
                </a:solidFill>
              </a:rPr>
              <a:t>Model fine-tuning</a:t>
            </a: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  <a:buChar char="●"/>
            </a:pPr>
            <a:r>
              <a:rPr lang="en-US" sz="1700" b="1" dirty="0">
                <a:solidFill>
                  <a:srgbClr val="0B5394"/>
                </a:solidFill>
              </a:rPr>
              <a:t>Grad-CAM &amp; Xi methodology</a:t>
            </a: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  <a:buChar char="●"/>
            </a:pPr>
            <a:r>
              <a:rPr lang="en-US" sz="1700" b="1" dirty="0">
                <a:solidFill>
                  <a:srgbClr val="0B5394"/>
                </a:solidFill>
              </a:rPr>
              <a:t>Feature importance results</a:t>
            </a:r>
          </a:p>
          <a:p>
            <a:pPr marL="457200" indent="-336550">
              <a:lnSpc>
                <a:spcPct val="115000"/>
              </a:lnSpc>
              <a:buClr>
                <a:srgbClr val="0B5394"/>
              </a:buClr>
              <a:buSzPts val="1700"/>
              <a:buFont typeface="Arial"/>
              <a:buChar char="●"/>
            </a:pPr>
            <a:r>
              <a:rPr lang="en-US" sz="1700" b="1" dirty="0">
                <a:solidFill>
                  <a:srgbClr val="0B5394"/>
                </a:solidFill>
              </a:rPr>
              <a:t>Key findings</a:t>
            </a:r>
          </a:p>
          <a:p>
            <a:pPr marL="457200" indent="-336550">
              <a:lnSpc>
                <a:spcPct val="115000"/>
              </a:lnSpc>
              <a:buClr>
                <a:srgbClr val="0B5394"/>
              </a:buClr>
              <a:buSzPts val="1700"/>
              <a:buFont typeface="Arial"/>
              <a:buChar char="●"/>
            </a:pPr>
            <a:r>
              <a:rPr lang="en-US" sz="1700" b="1" dirty="0">
                <a:solidFill>
                  <a:srgbClr val="0B5394"/>
                </a:solidFill>
              </a:rPr>
              <a:t>Pre-trained COALITION-4</a:t>
            </a: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  <a:buChar char="●"/>
            </a:pPr>
            <a:r>
              <a:rPr lang="en-US" sz="1700" b="1" dirty="0">
                <a:solidFill>
                  <a:srgbClr val="0B5394"/>
                </a:solidFill>
              </a:rPr>
              <a:t>Distilled COALITION-4</a:t>
            </a: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  <a:buChar char="●"/>
            </a:pPr>
            <a:r>
              <a:rPr lang="en-US" sz="1700" b="1" dirty="0">
                <a:solidFill>
                  <a:srgbClr val="0B5394"/>
                </a:solidFill>
              </a:rPr>
              <a:t>Next steps</a:t>
            </a:r>
          </a:p>
          <a:p>
            <a:pPr marL="1206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</a:pPr>
            <a:endParaRPr lang="en-US" sz="1700" b="1" dirty="0">
              <a:solidFill>
                <a:srgbClr val="0B5394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  <a:buChar char="●"/>
            </a:pPr>
            <a:endParaRPr lang="en-US" sz="1700" b="1" dirty="0">
              <a:solidFill>
                <a:srgbClr val="0B5394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  <a:buChar char="●"/>
            </a:pPr>
            <a:endParaRPr lang="en-US" sz="1700" b="1" dirty="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 rotWithShape="1">
          <a:blip r:embed="rId4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3801000" y="4798250"/>
            <a:ext cx="1739188" cy="15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B5394"/>
                </a:solidFill>
              </a:rPr>
              <a:t>Bucharest, October 27</a:t>
            </a:r>
            <a:r>
              <a:rPr lang="en-US" sz="900" baseline="30000" dirty="0">
                <a:solidFill>
                  <a:srgbClr val="0B5394"/>
                </a:solidFill>
              </a:rPr>
              <a:t>th</a:t>
            </a:r>
            <a:r>
              <a:rPr lang="en-US" sz="900" dirty="0">
                <a:solidFill>
                  <a:srgbClr val="0B5394"/>
                </a:solidFill>
              </a:rPr>
              <a:t> 2025</a:t>
            </a:r>
          </a:p>
        </p:txBody>
      </p:sp>
      <p:sp>
        <p:nvSpPr>
          <p:cNvPr id="78" name="Google Shape;78;p15"/>
          <p:cNvSpPr txBox="1"/>
          <p:nvPr/>
        </p:nvSpPr>
        <p:spPr>
          <a:xfrm>
            <a:off x="191500" y="750050"/>
            <a:ext cx="40992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B5394"/>
                </a:solidFill>
              </a:rPr>
              <a:t>Data sources</a:t>
            </a:r>
          </a:p>
        </p:txBody>
      </p:sp>
      <p:sp>
        <p:nvSpPr>
          <p:cNvPr id="79" name="Google Shape;79;p15"/>
          <p:cNvSpPr txBox="1"/>
          <p:nvPr/>
        </p:nvSpPr>
        <p:spPr>
          <a:xfrm>
            <a:off x="191500" y="1331400"/>
            <a:ext cx="5174935" cy="3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Radar, satellite and NWCSAF products, lightning, NWP (ICON) integration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Stereo70 projection of Romania, border-inclusive extraction polygon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256×256 pixel patch extraction, standardized to 32×32 for processing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DBSCAN algorithm identifies convective cells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solidFill>
                <a:srgbClr val="0B5394"/>
              </a:solidFill>
            </a:endParaRPr>
          </a:p>
        </p:txBody>
      </p:sp>
      <p:pic>
        <p:nvPicPr>
          <p:cNvPr id="2" name="Google Shape;129;p20" title="area extend.png">
            <a:extLst>
              <a:ext uri="{FF2B5EF4-FFF2-40B4-BE49-F238E27FC236}">
                <a16:creationId xmlns:a16="http://schemas.microsoft.com/office/drawing/2014/main" id="{FCAD1C47-BF93-C98E-CD89-B8CD83E7A664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3299" y="967100"/>
            <a:ext cx="2899501" cy="26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30;p20">
            <a:extLst>
              <a:ext uri="{FF2B5EF4-FFF2-40B4-BE49-F238E27FC236}">
                <a16:creationId xmlns:a16="http://schemas.microsoft.com/office/drawing/2014/main" id="{17DCF8E2-ACD5-3AD4-8356-BD898ECB2997}"/>
              </a:ext>
            </a:extLst>
          </p:cNvPr>
          <p:cNvSpPr txBox="1"/>
          <p:nvPr/>
        </p:nvSpPr>
        <p:spPr>
          <a:xfrm>
            <a:off x="5643299" y="3625250"/>
            <a:ext cx="3002700" cy="3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B5394"/>
                </a:solidFill>
              </a:rPr>
              <a:t>Area extent of model domain</a:t>
            </a:r>
            <a:endParaRPr sz="1500" b="1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 rotWithShape="1">
          <a:blip r:embed="rId4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3801000" y="4798250"/>
            <a:ext cx="1739188" cy="15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B5394"/>
                </a:solidFill>
              </a:rPr>
              <a:t>Bucharest, October 27</a:t>
            </a:r>
            <a:r>
              <a:rPr lang="en-US" sz="900" baseline="30000" dirty="0">
                <a:solidFill>
                  <a:srgbClr val="0B5394"/>
                </a:solidFill>
              </a:rPr>
              <a:t>th</a:t>
            </a:r>
            <a:r>
              <a:rPr lang="en-US" sz="900" dirty="0">
                <a:solidFill>
                  <a:srgbClr val="0B5394"/>
                </a:solidFill>
              </a:rPr>
              <a:t> 2025</a:t>
            </a:r>
          </a:p>
        </p:txBody>
      </p:sp>
      <p:sp>
        <p:nvSpPr>
          <p:cNvPr id="78" name="Google Shape;78;p15"/>
          <p:cNvSpPr txBox="1"/>
          <p:nvPr/>
        </p:nvSpPr>
        <p:spPr>
          <a:xfrm>
            <a:off x="191500" y="750050"/>
            <a:ext cx="40992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</a:pPr>
            <a:r>
              <a:rPr lang="en-US" sz="1700" b="1" dirty="0">
                <a:solidFill>
                  <a:srgbClr val="0B5394"/>
                </a:solidFill>
              </a:rPr>
              <a:t>Convective cell identification</a:t>
            </a:r>
          </a:p>
        </p:txBody>
      </p:sp>
      <p:sp>
        <p:nvSpPr>
          <p:cNvPr id="79" name="Google Shape;79;p15"/>
          <p:cNvSpPr txBox="1"/>
          <p:nvPr/>
        </p:nvSpPr>
        <p:spPr>
          <a:xfrm>
            <a:off x="191501" y="1331400"/>
            <a:ext cx="3744006" cy="3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Applied to RZC reflectivity data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Centered 256×256 pixel patches around cluster centroids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Same patches extracted across all products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More control over target patch extraction process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solidFill>
                <a:srgbClr val="0B5394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A5CAF0-C860-9023-87CF-527C0DBF726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000" y="1241183"/>
            <a:ext cx="4867174" cy="281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887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 rotWithShape="1">
          <a:blip r:embed="rId4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3801000" y="4798250"/>
            <a:ext cx="1739188" cy="15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B5394"/>
                </a:solidFill>
              </a:rPr>
              <a:t>Bucharest, October 27</a:t>
            </a:r>
            <a:r>
              <a:rPr lang="en-US" sz="900" baseline="30000" dirty="0">
                <a:solidFill>
                  <a:srgbClr val="0B5394"/>
                </a:solidFill>
              </a:rPr>
              <a:t>th</a:t>
            </a:r>
            <a:r>
              <a:rPr lang="en-US" sz="900" dirty="0">
                <a:solidFill>
                  <a:srgbClr val="0B5394"/>
                </a:solidFill>
              </a:rPr>
              <a:t> 2025</a:t>
            </a:r>
          </a:p>
        </p:txBody>
      </p:sp>
      <p:sp>
        <p:nvSpPr>
          <p:cNvPr id="78" name="Google Shape;78;p15"/>
          <p:cNvSpPr txBox="1"/>
          <p:nvPr/>
        </p:nvSpPr>
        <p:spPr>
          <a:xfrm>
            <a:off x="191500" y="750050"/>
            <a:ext cx="40992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</a:pPr>
            <a:r>
              <a:rPr lang="en-US" sz="1700" b="1" dirty="0">
                <a:solidFill>
                  <a:srgbClr val="0B5394"/>
                </a:solidFill>
              </a:rPr>
              <a:t>Knowledge distillation strategy</a:t>
            </a:r>
          </a:p>
        </p:txBody>
      </p:sp>
      <p:sp>
        <p:nvSpPr>
          <p:cNvPr id="79" name="Google Shape;79;p15"/>
          <p:cNvSpPr txBox="1"/>
          <p:nvPr/>
        </p:nvSpPr>
        <p:spPr>
          <a:xfrm>
            <a:off x="191500" y="1331400"/>
            <a:ext cx="8522194" cy="3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Teacher-student knowledge transfer from pre-trained COALITION-4 to randomly initialized COALITION-4, configured to work with Romanian data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Three-component loss = Hard (ground truth) + Soft (KL divergence) + feature matching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Stable training with hard loss dropping consistently from 0.89 to 0.70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solidFill>
                <a:srgbClr val="0B5394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25CFB7-7CD3-7E9F-9A00-84F207F7BE0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101" y="2926050"/>
            <a:ext cx="4578985" cy="143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008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 rotWithShape="1">
          <a:blip r:embed="rId4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3801000" y="4798250"/>
            <a:ext cx="1739188" cy="15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B5394"/>
                </a:solidFill>
              </a:rPr>
              <a:t>Bucharest, October 27</a:t>
            </a:r>
            <a:r>
              <a:rPr lang="en-US" sz="900" baseline="30000" dirty="0">
                <a:solidFill>
                  <a:srgbClr val="0B5394"/>
                </a:solidFill>
              </a:rPr>
              <a:t>th</a:t>
            </a:r>
            <a:r>
              <a:rPr lang="en-US" sz="900" dirty="0">
                <a:solidFill>
                  <a:srgbClr val="0B5394"/>
                </a:solidFill>
              </a:rPr>
              <a:t> 2025</a:t>
            </a:r>
          </a:p>
        </p:txBody>
      </p:sp>
      <p:sp>
        <p:nvSpPr>
          <p:cNvPr id="78" name="Google Shape;78;p15"/>
          <p:cNvSpPr txBox="1"/>
          <p:nvPr/>
        </p:nvSpPr>
        <p:spPr>
          <a:xfrm>
            <a:off x="191500" y="750050"/>
            <a:ext cx="40992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</a:pPr>
            <a:r>
              <a:rPr lang="en-US" sz="1700" b="1" dirty="0">
                <a:solidFill>
                  <a:srgbClr val="0B5394"/>
                </a:solidFill>
              </a:rPr>
              <a:t>Model fine-tuning</a:t>
            </a:r>
          </a:p>
        </p:txBody>
      </p:sp>
      <p:sp>
        <p:nvSpPr>
          <p:cNvPr id="79" name="Google Shape;79;p15"/>
          <p:cNvSpPr txBox="1"/>
          <p:nvPr/>
        </p:nvSpPr>
        <p:spPr>
          <a:xfrm>
            <a:off x="191500" y="1331400"/>
            <a:ext cx="4099200" cy="3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Training loss decreases monotonically from 0.195 to 0.145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Spikes in validation learning curve due to small dataset size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Adam optimizer, weighted focal loss, learning rate 1e-5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Good generalization for 10 epochs - validation loss lower than training loss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solidFill>
                <a:srgbClr val="0B5394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DB4EE3-ABA3-9CFE-138C-A7AC5FBAFC6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0700" y="1331400"/>
            <a:ext cx="4389120" cy="293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050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 rotWithShape="1">
          <a:blip r:embed="rId4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3801000" y="4798250"/>
            <a:ext cx="1739188" cy="15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B5394"/>
                </a:solidFill>
              </a:rPr>
              <a:t>Bucharest, October 27</a:t>
            </a:r>
            <a:r>
              <a:rPr lang="en-US" sz="900" baseline="30000" dirty="0">
                <a:solidFill>
                  <a:srgbClr val="0B5394"/>
                </a:solidFill>
              </a:rPr>
              <a:t>th</a:t>
            </a:r>
            <a:r>
              <a:rPr lang="en-US" sz="900" dirty="0">
                <a:solidFill>
                  <a:srgbClr val="0B5394"/>
                </a:solidFill>
              </a:rPr>
              <a:t> 2025</a:t>
            </a:r>
          </a:p>
        </p:txBody>
      </p:sp>
      <p:sp>
        <p:nvSpPr>
          <p:cNvPr id="78" name="Google Shape;78;p15"/>
          <p:cNvSpPr txBox="1"/>
          <p:nvPr/>
        </p:nvSpPr>
        <p:spPr>
          <a:xfrm>
            <a:off x="191500" y="750050"/>
            <a:ext cx="40992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</a:pPr>
            <a:r>
              <a:rPr lang="en-US" sz="1700" b="1" dirty="0">
                <a:solidFill>
                  <a:srgbClr val="0B5394"/>
                </a:solidFill>
              </a:rPr>
              <a:t>Grad-CAM &amp; Xi methodology</a:t>
            </a:r>
          </a:p>
        </p:txBody>
      </p:sp>
      <p:sp>
        <p:nvSpPr>
          <p:cNvPr id="79" name="Google Shape;79;p15"/>
          <p:cNvSpPr txBox="1"/>
          <p:nvPr/>
        </p:nvSpPr>
        <p:spPr>
          <a:xfrm>
            <a:off x="191500" y="1178159"/>
            <a:ext cx="8553553" cy="1650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Feature importance analysis through gradient-weighted activation maps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Xi correlation for nonlinear dependence measurement (0=independent, 1=dependent)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Combined approach for correlating input and output activation patterns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Features below threshold ξ &lt; 0.52 removed for increased model efficiency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solidFill>
                <a:srgbClr val="0B5394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2E438B-85D5-8FD2-489D-1AA0EFE22D0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453" y="2581465"/>
            <a:ext cx="5943600" cy="22167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697D5C-4AEF-0A9E-3CF3-EF9F84BBFEBB}"/>
              </a:ext>
            </a:extLst>
          </p:cNvPr>
          <p:cNvSpPr txBox="1"/>
          <p:nvPr/>
        </p:nvSpPr>
        <p:spPr>
          <a:xfrm>
            <a:off x="191500" y="3147570"/>
            <a:ext cx="2761130" cy="882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800"/>
              </a:spcAft>
              <a:buClrTx/>
              <a:buSzPct val="100000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Global ranking reveals radar products far exceed others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ξ</a:t>
            </a:r>
            <a:r>
              <a:rPr kumimoji="0" lang="en-US" sz="1500" b="1" i="0" u="none" strike="noStrike" kern="1200" cap="none" spc="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RZC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= 0.813,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ξ</a:t>
            </a:r>
            <a:r>
              <a:rPr kumimoji="0" lang="en-US" sz="1500" b="1" i="0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EZC-20</a:t>
            </a:r>
            <a:r>
              <a:rPr kumimoji="0" lang="en-US" sz="1500" b="1" i="0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itchFamily="34" charset="0"/>
                <a:ea typeface="Arial" panose="020B0604020202020204" pitchFamily="34" charset="0"/>
                <a:cs typeface="Arial" pitchFamily="34" charset="-120"/>
              </a:rPr>
              <a:t>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= 0.783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5217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 rotWithShape="1">
          <a:blip r:embed="rId4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3801000" y="4798250"/>
            <a:ext cx="1739188" cy="15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B5394"/>
                </a:solidFill>
              </a:rPr>
              <a:t>Bucharest, October 27</a:t>
            </a:r>
            <a:r>
              <a:rPr lang="en-US" sz="900" baseline="30000" dirty="0">
                <a:solidFill>
                  <a:srgbClr val="0B5394"/>
                </a:solidFill>
              </a:rPr>
              <a:t>th</a:t>
            </a:r>
            <a:r>
              <a:rPr lang="en-US" sz="900" dirty="0">
                <a:solidFill>
                  <a:srgbClr val="0B5394"/>
                </a:solidFill>
              </a:rPr>
              <a:t> 2025</a:t>
            </a:r>
          </a:p>
        </p:txBody>
      </p:sp>
      <p:sp>
        <p:nvSpPr>
          <p:cNvPr id="78" name="Google Shape;78;p15"/>
          <p:cNvSpPr txBox="1"/>
          <p:nvPr/>
        </p:nvSpPr>
        <p:spPr>
          <a:xfrm>
            <a:off x="191500" y="750050"/>
            <a:ext cx="40992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</a:pPr>
            <a:r>
              <a:rPr lang="en-US" sz="1700" b="1" dirty="0">
                <a:solidFill>
                  <a:srgbClr val="0B5394"/>
                </a:solidFill>
              </a:rPr>
              <a:t>Feature importance results</a:t>
            </a:r>
          </a:p>
        </p:txBody>
      </p:sp>
      <p:sp>
        <p:nvSpPr>
          <p:cNvPr id="79" name="Google Shape;79;p15"/>
          <p:cNvSpPr txBox="1"/>
          <p:nvPr/>
        </p:nvSpPr>
        <p:spPr>
          <a:xfrm>
            <a:off x="191500" y="1331400"/>
            <a:ext cx="4099200" cy="362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solidFill>
                <a:srgbClr val="0B5394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9676D5-A96C-F690-63AA-B29A261550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725" y="1712905"/>
            <a:ext cx="4321162" cy="2680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3B9F91-9242-41AB-D6F9-FB8E09FFC9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3700" y="1714258"/>
            <a:ext cx="4311751" cy="267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4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 rotWithShape="1">
          <a:blip r:embed="rId4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3801000" y="4798250"/>
            <a:ext cx="1739188" cy="15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B5394"/>
                </a:solidFill>
              </a:rPr>
              <a:t>Bucharest, October 27</a:t>
            </a:r>
            <a:r>
              <a:rPr lang="en-US" sz="900" baseline="30000" dirty="0">
                <a:solidFill>
                  <a:srgbClr val="0B5394"/>
                </a:solidFill>
              </a:rPr>
              <a:t>th</a:t>
            </a:r>
            <a:r>
              <a:rPr lang="en-US" sz="900" dirty="0">
                <a:solidFill>
                  <a:srgbClr val="0B5394"/>
                </a:solidFill>
              </a:rPr>
              <a:t> 2025</a:t>
            </a:r>
          </a:p>
        </p:txBody>
      </p:sp>
      <p:sp>
        <p:nvSpPr>
          <p:cNvPr id="78" name="Google Shape;78;p15"/>
          <p:cNvSpPr txBox="1"/>
          <p:nvPr/>
        </p:nvSpPr>
        <p:spPr>
          <a:xfrm>
            <a:off x="191500" y="750050"/>
            <a:ext cx="40992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</a:pPr>
            <a:r>
              <a:rPr lang="en-US" sz="1700" b="1" dirty="0">
                <a:solidFill>
                  <a:srgbClr val="0B5394"/>
                </a:solidFill>
              </a:rPr>
              <a:t>Key findings</a:t>
            </a:r>
          </a:p>
        </p:txBody>
      </p:sp>
      <p:sp>
        <p:nvSpPr>
          <p:cNvPr id="79" name="Google Shape;79;p15"/>
          <p:cNvSpPr txBox="1"/>
          <p:nvPr/>
        </p:nvSpPr>
        <p:spPr>
          <a:xfrm>
            <a:off x="191499" y="1331400"/>
            <a:ext cx="8002241" cy="362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DEM confirmed detrimental, validates </a:t>
            </a:r>
            <a:r>
              <a:rPr lang="en-US" sz="1500" b="1" dirty="0" err="1">
                <a:solidFill>
                  <a:srgbClr val="0B5394"/>
                </a:solidFill>
              </a:rPr>
              <a:t>MeteoSwiss</a:t>
            </a:r>
            <a:r>
              <a:rPr lang="en-US" sz="1500" b="1" dirty="0">
                <a:solidFill>
                  <a:srgbClr val="0B5394"/>
                </a:solidFill>
              </a:rPr>
              <a:t> SHAP analysis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NWP marginally useful with </a:t>
            </a:r>
            <a:r>
              <a:rPr lang="el-GR" sz="1500" b="1" dirty="0">
                <a:solidFill>
                  <a:srgbClr val="0B5394"/>
                </a:solidFill>
              </a:rPr>
              <a:t>ξ ≈ 0.52 </a:t>
            </a:r>
            <a:r>
              <a:rPr lang="en-US" sz="1500" b="1" dirty="0">
                <a:solidFill>
                  <a:srgbClr val="0B5394"/>
                </a:solidFill>
              </a:rPr>
              <a:t>but computationally expensive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Optimal feature set = Radar + Satellite + Lightning + NWCSAF, maintaining quality while decreasing overhead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solidFill>
                <a:srgbClr val="0B53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831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 rotWithShape="1">
          <a:blip r:embed="rId4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3801000" y="4798250"/>
            <a:ext cx="1739188" cy="15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B5394"/>
                </a:solidFill>
              </a:rPr>
              <a:t>Bucharest, October 27</a:t>
            </a:r>
            <a:r>
              <a:rPr lang="en-US" sz="900" baseline="30000" dirty="0">
                <a:solidFill>
                  <a:srgbClr val="0B5394"/>
                </a:solidFill>
              </a:rPr>
              <a:t>th</a:t>
            </a:r>
            <a:r>
              <a:rPr lang="en-US" sz="900" dirty="0">
                <a:solidFill>
                  <a:srgbClr val="0B5394"/>
                </a:solidFill>
              </a:rPr>
              <a:t> 2025</a:t>
            </a:r>
          </a:p>
        </p:txBody>
      </p:sp>
      <p:sp>
        <p:nvSpPr>
          <p:cNvPr id="78" name="Google Shape;78;p15"/>
          <p:cNvSpPr txBox="1"/>
          <p:nvPr/>
        </p:nvSpPr>
        <p:spPr>
          <a:xfrm>
            <a:off x="360100" y="538775"/>
            <a:ext cx="5438335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</a:pPr>
            <a:r>
              <a:rPr lang="en-US" sz="1700" b="1" dirty="0">
                <a:solidFill>
                  <a:srgbClr val="0B5394"/>
                </a:solidFill>
              </a:rPr>
              <a:t>Pre-trained COALITION-4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E7DDB3-DB74-B422-C115-C653434B688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479" t="9216" b="7487"/>
          <a:stretch/>
        </p:blipFill>
        <p:spPr>
          <a:xfrm>
            <a:off x="3934863" y="593496"/>
            <a:ext cx="1471462" cy="428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767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 rotWithShape="1">
          <a:blip r:embed="rId4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3801000" y="4798250"/>
            <a:ext cx="1739188" cy="15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B5394"/>
                </a:solidFill>
              </a:rPr>
              <a:t>Bucharest, October 27</a:t>
            </a:r>
            <a:r>
              <a:rPr lang="en-US" sz="900" baseline="30000" dirty="0">
                <a:solidFill>
                  <a:srgbClr val="0B5394"/>
                </a:solidFill>
              </a:rPr>
              <a:t>th</a:t>
            </a:r>
            <a:r>
              <a:rPr lang="en-US" sz="900" dirty="0">
                <a:solidFill>
                  <a:srgbClr val="0B5394"/>
                </a:solidFill>
              </a:rPr>
              <a:t> 2025</a:t>
            </a:r>
          </a:p>
        </p:txBody>
      </p:sp>
      <p:sp>
        <p:nvSpPr>
          <p:cNvPr id="78" name="Google Shape;78;p15"/>
          <p:cNvSpPr txBox="1"/>
          <p:nvPr/>
        </p:nvSpPr>
        <p:spPr>
          <a:xfrm>
            <a:off x="191499" y="538775"/>
            <a:ext cx="5438335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</a:pPr>
            <a:r>
              <a:rPr lang="en-US" sz="1700" b="1" dirty="0">
                <a:solidFill>
                  <a:srgbClr val="0B5394"/>
                </a:solidFill>
              </a:rPr>
              <a:t>Distilled COALITION-4</a:t>
            </a:r>
          </a:p>
        </p:txBody>
      </p:sp>
      <p:sp>
        <p:nvSpPr>
          <p:cNvPr id="2" name="Google Shape;79;p15">
            <a:extLst>
              <a:ext uri="{FF2B5EF4-FFF2-40B4-BE49-F238E27FC236}">
                <a16:creationId xmlns:a16="http://schemas.microsoft.com/office/drawing/2014/main" id="{D59B0DBA-9691-F28F-F081-DAC1A22DE49F}"/>
              </a:ext>
            </a:extLst>
          </p:cNvPr>
          <p:cNvSpPr txBox="1"/>
          <p:nvPr/>
        </p:nvSpPr>
        <p:spPr>
          <a:xfrm>
            <a:off x="384980" y="2476733"/>
            <a:ext cx="5051372" cy="5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600" b="1" dirty="0">
                <a:solidFill>
                  <a:srgbClr val="0B5394"/>
                </a:solidFill>
              </a:rPr>
              <a:t>Trained without NWP and DEM products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720CFA-B63B-6089-9A51-79216C92EC6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6374" t="9536" b="7743"/>
          <a:stretch/>
        </p:blipFill>
        <p:spPr>
          <a:xfrm>
            <a:off x="6192126" y="525761"/>
            <a:ext cx="1644005" cy="46177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7052AF-26EC-DBE9-59ED-872C525818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283" y="945088"/>
            <a:ext cx="4803006" cy="140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575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 rotWithShape="1">
          <a:blip r:embed="rId4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3801000" y="4798250"/>
            <a:ext cx="1739188" cy="15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B5394"/>
                </a:solidFill>
              </a:rPr>
              <a:t>Bucharest, October 27</a:t>
            </a:r>
            <a:r>
              <a:rPr lang="en-US" sz="900" baseline="30000" dirty="0">
                <a:solidFill>
                  <a:srgbClr val="0B5394"/>
                </a:solidFill>
              </a:rPr>
              <a:t>th</a:t>
            </a:r>
            <a:r>
              <a:rPr lang="en-US" sz="900" dirty="0">
                <a:solidFill>
                  <a:srgbClr val="0B5394"/>
                </a:solidFill>
              </a:rPr>
              <a:t> 2025</a:t>
            </a:r>
          </a:p>
        </p:txBody>
      </p:sp>
      <p:sp>
        <p:nvSpPr>
          <p:cNvPr id="78" name="Google Shape;78;p15"/>
          <p:cNvSpPr txBox="1"/>
          <p:nvPr/>
        </p:nvSpPr>
        <p:spPr>
          <a:xfrm>
            <a:off x="191499" y="538775"/>
            <a:ext cx="646437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700"/>
            </a:pPr>
            <a:r>
              <a:rPr lang="en-US" sz="1700" b="1" dirty="0">
                <a:solidFill>
                  <a:srgbClr val="0B5394"/>
                </a:solidFill>
              </a:rPr>
              <a:t>Distilled COALITION-4 – sample prediction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BC861C-5F2C-3032-1BA0-7E58AB95BF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001" y="1032079"/>
            <a:ext cx="4757019" cy="1408176"/>
          </a:xfrm>
          <a:prstGeom prst="rect">
            <a:avLst/>
          </a:prstGeom>
        </p:spPr>
      </p:pic>
      <p:sp>
        <p:nvSpPr>
          <p:cNvPr id="3" name="Google Shape;79;p15">
            <a:extLst>
              <a:ext uri="{FF2B5EF4-FFF2-40B4-BE49-F238E27FC236}">
                <a16:creationId xmlns:a16="http://schemas.microsoft.com/office/drawing/2014/main" id="{D9DB5CA1-D9FF-9587-01BD-3AE5F3234A63}"/>
              </a:ext>
            </a:extLst>
          </p:cNvPr>
          <p:cNvSpPr txBox="1"/>
          <p:nvPr/>
        </p:nvSpPr>
        <p:spPr>
          <a:xfrm>
            <a:off x="437824" y="2495875"/>
            <a:ext cx="5051372" cy="60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600" b="1" dirty="0">
                <a:solidFill>
                  <a:srgbClr val="0B5394"/>
                </a:solidFill>
              </a:rPr>
              <a:t>Core location maintained across lead times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solidFill>
                <a:srgbClr val="0B5394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2567BC-56E7-E82B-52CD-12688DEF6A6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7795" t="8982" b="6709"/>
          <a:stretch/>
        </p:blipFill>
        <p:spPr>
          <a:xfrm>
            <a:off x="6263548" y="621061"/>
            <a:ext cx="1485546" cy="433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868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/>
          <p:nvPr/>
        </p:nvSpPr>
        <p:spPr>
          <a:xfrm>
            <a:off x="0" y="0"/>
            <a:ext cx="9144000" cy="490500"/>
          </a:xfrm>
          <a:prstGeom prst="rect">
            <a:avLst/>
          </a:prstGeom>
          <a:solidFill>
            <a:srgbClr val="0021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1" name="Google Shape;17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600" y="0"/>
            <a:ext cx="1202401" cy="4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4"/>
          <p:cNvPicPr preferRelativeResize="0"/>
          <p:nvPr/>
        </p:nvPicPr>
        <p:blipFill rotWithShape="1">
          <a:blip r:embed="rId4">
            <a:alphaModFix/>
          </a:blip>
          <a:srcRect l="-4078" r="48516"/>
          <a:stretch/>
        </p:blipFill>
        <p:spPr>
          <a:xfrm>
            <a:off x="44650" y="48275"/>
            <a:ext cx="630900" cy="3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4"/>
          <p:cNvSpPr txBox="1"/>
          <p:nvPr/>
        </p:nvSpPr>
        <p:spPr>
          <a:xfrm>
            <a:off x="3800999" y="4798250"/>
            <a:ext cx="1694365" cy="1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B5394"/>
                </a:solidFill>
              </a:rPr>
              <a:t>Bucharest, October 27</a:t>
            </a:r>
            <a:r>
              <a:rPr lang="en-US" sz="900" baseline="30000" dirty="0">
                <a:solidFill>
                  <a:srgbClr val="0B5394"/>
                </a:solidFill>
              </a:rPr>
              <a:t>th</a:t>
            </a:r>
            <a:r>
              <a:rPr lang="en-US" sz="900" dirty="0">
                <a:solidFill>
                  <a:srgbClr val="0B5394"/>
                </a:solidFill>
              </a:rPr>
              <a:t> 2025</a:t>
            </a:r>
          </a:p>
        </p:txBody>
      </p:sp>
      <p:sp>
        <p:nvSpPr>
          <p:cNvPr id="174" name="Google Shape;174;p24"/>
          <p:cNvSpPr txBox="1"/>
          <p:nvPr/>
        </p:nvSpPr>
        <p:spPr>
          <a:xfrm>
            <a:off x="191500" y="750050"/>
            <a:ext cx="40992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0B5394"/>
                </a:solidFill>
              </a:rPr>
              <a:t>Next steps</a:t>
            </a:r>
            <a:endParaRPr sz="1700" b="1">
              <a:solidFill>
                <a:srgbClr val="0B5394"/>
              </a:solidFill>
            </a:endParaRPr>
          </a:p>
        </p:txBody>
      </p:sp>
      <p:sp>
        <p:nvSpPr>
          <p:cNvPr id="175" name="Google Shape;175;p24"/>
          <p:cNvSpPr txBox="1"/>
          <p:nvPr/>
        </p:nvSpPr>
        <p:spPr>
          <a:xfrm>
            <a:off x="191500" y="1331400"/>
            <a:ext cx="8761500" cy="34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Evaluate improved spatial/temporal resolution benefits from transitioning to MTG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Integrating new FCI channels, Lightning Imager, enhanced RGB composites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Physics-based module for enhancing data-driven solution with atmospheric principles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Char char="●"/>
            </a:pPr>
            <a:r>
              <a:rPr lang="en-US" sz="1500" b="1" dirty="0">
                <a:solidFill>
                  <a:srgbClr val="0B5394"/>
                </a:solidFill>
              </a:rPr>
              <a:t>Operational deployment on NMA’s local infrastructure + code modularity for ease of access by other European states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445</Words>
  <Application>Microsoft Office PowerPoint</Application>
  <PresentationFormat>On-screen Show (16:9)</PresentationFormat>
  <Paragraphs>69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PC1 Sateliti</cp:lastModifiedBy>
  <cp:revision>14</cp:revision>
  <dcterms:modified xsi:type="dcterms:W3CDTF">2025-10-26T18:24:33Z</dcterms:modified>
</cp:coreProperties>
</file>