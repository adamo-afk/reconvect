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0cefcd850_0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10cefcd850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0cefcd850_0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0cefcd850_0_1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50487814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50487814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0cefcd850_0_1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10cefcd850_0_1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0cefcd850_0_1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0cefcd850_0_1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118fe9c7c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118fe9c7c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118fe9c7c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118fe9c7cb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18fe9c7cb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18fe9c7cb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258a8f9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1258a8f9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0cefcd850_0_1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0cefcd850_0_1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258a8f98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1258a8f98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4b528591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4b528591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5048781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5048781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258a8f98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1258a8f98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150487814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150487814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50487814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150487814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50487814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150487814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14b52859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14b52859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 Id="rId11" Type="http://schemas.openxmlformats.org/officeDocument/2006/relationships/hyperlink" Target="http://arxiv.org/abs/2401.04125" TargetMode="External"/><Relationship Id="rId10" Type="http://schemas.openxmlformats.org/officeDocument/2006/relationships/hyperlink" Target="http://arxiv.org/abs/2404.10024" TargetMode="External"/><Relationship Id="rId9" Type="http://schemas.openxmlformats.org/officeDocument/2006/relationships/hyperlink" Target="http://arxiv.org/abs/2304.02948" TargetMode="External"/><Relationship Id="rId5" Type="http://schemas.openxmlformats.org/officeDocument/2006/relationships/hyperlink" Target="https://doi.org/https://doi.org/10.1002/qj.3803" TargetMode="External"/><Relationship Id="rId6" Type="http://schemas.openxmlformats.org/officeDocument/2006/relationships/hyperlink" Target="http://arxiv.org/abs/2310.19515" TargetMode="External"/><Relationship Id="rId7" Type="http://schemas.openxmlformats.org/officeDocument/2006/relationships/hyperlink" Target="https://doi.org/10.1029/2022GL101626" TargetMode="External"/><Relationship Id="rId8" Type="http://schemas.openxmlformats.org/officeDocument/2006/relationships/hyperlink" Target="http://arxiv.org/abs/2308.1328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56" name="Google Shape;56;p13"/>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57" name="Google Shape;57;p13"/>
          <p:cNvSpPr txBox="1"/>
          <p:nvPr/>
        </p:nvSpPr>
        <p:spPr>
          <a:xfrm>
            <a:off x="1188000" y="1928125"/>
            <a:ext cx="7500300" cy="162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0B5394"/>
                </a:solidFill>
              </a:rPr>
              <a:t>Romanian NMA Training Placement Scheme 2024-2026</a:t>
            </a:r>
            <a:endParaRPr b="1" sz="2100">
              <a:solidFill>
                <a:srgbClr val="0B5394"/>
              </a:solidFill>
            </a:endParaRPr>
          </a:p>
        </p:txBody>
      </p:sp>
      <p:sp>
        <p:nvSpPr>
          <p:cNvPr id="58" name="Google Shape;58;p13"/>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59" name="Google Shape;59;p13"/>
          <p:cNvSpPr txBox="1"/>
          <p:nvPr/>
        </p:nvSpPr>
        <p:spPr>
          <a:xfrm>
            <a:off x="2979600" y="246530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B5394"/>
                </a:solidFill>
              </a:rPr>
              <a:t>Claudiu Adam, Eugen Mihuleț</a:t>
            </a:r>
            <a:endParaRPr sz="1700">
              <a:solidFill>
                <a:srgbClr val="0B539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 name="Google Shape;65;p14"/>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66" name="Google Shape;66;p14"/>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67" name="Google Shape;67;p14"/>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68" name="Google Shape;68;p14"/>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Content of the presentation</a:t>
            </a:r>
            <a:endParaRPr b="1" sz="1700">
              <a:solidFill>
                <a:srgbClr val="0B5394"/>
              </a:solidFill>
            </a:endParaRPr>
          </a:p>
        </p:txBody>
      </p:sp>
      <p:sp>
        <p:nvSpPr>
          <p:cNvPr id="69" name="Google Shape;69;p14"/>
          <p:cNvSpPr txBox="1"/>
          <p:nvPr/>
        </p:nvSpPr>
        <p:spPr>
          <a:xfrm>
            <a:off x="191500" y="1331400"/>
            <a:ext cx="8761500" cy="3189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Objectives of the program</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Assumptions</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Technical basis</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Scientific basis</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Existing solutions</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Development approach</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Risks and risk </a:t>
            </a:r>
            <a:r>
              <a:rPr b="1" lang="en" sz="1700">
                <a:solidFill>
                  <a:srgbClr val="0B5394"/>
                </a:solidFill>
              </a:rPr>
              <a:t>mitigation</a:t>
            </a:r>
            <a:endParaRPr b="1" sz="1700">
              <a:solidFill>
                <a:srgbClr val="0B5394"/>
              </a:solidFill>
            </a:endParaRPr>
          </a:p>
          <a:p>
            <a:pPr indent="-336550" lvl="0" marL="457200" rtl="0" algn="l">
              <a:lnSpc>
                <a:spcPct val="115000"/>
              </a:lnSpc>
              <a:spcBef>
                <a:spcPts val="0"/>
              </a:spcBef>
              <a:spcAft>
                <a:spcPts val="0"/>
              </a:spcAft>
              <a:buClr>
                <a:srgbClr val="0B5394"/>
              </a:buClr>
              <a:buSzPts val="1700"/>
              <a:buChar char="●"/>
            </a:pPr>
            <a:r>
              <a:rPr b="1" lang="en" sz="1700">
                <a:solidFill>
                  <a:srgbClr val="0B5394"/>
                </a:solidFill>
              </a:rPr>
              <a:t>References</a:t>
            </a:r>
            <a:endParaRPr b="1" sz="1700">
              <a:solidFill>
                <a:srgbClr val="0B539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 name="Google Shape;75;p15"/>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76" name="Google Shape;76;p15"/>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77" name="Google Shape;77;p15"/>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78" name="Google Shape;78;p15"/>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Objectives of the placement scheme</a:t>
            </a:r>
            <a:endParaRPr b="1" sz="1700">
              <a:solidFill>
                <a:srgbClr val="0B5394"/>
              </a:solidFill>
            </a:endParaRPr>
          </a:p>
        </p:txBody>
      </p:sp>
      <p:sp>
        <p:nvSpPr>
          <p:cNvPr id="79" name="Google Shape;79;p15"/>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Primary objective:</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adopt and integrate an established ML-based nowcasting system (i.e. COALITION-4) that aligns with the NMA's operational requirements for severe weather warnings, ensuring high precision in the 0–1 hour lead times for heavy rain, hail, and lightning</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integrate</a:t>
            </a:r>
            <a:r>
              <a:rPr lang="en" sz="1500">
                <a:solidFill>
                  <a:srgbClr val="0B5394"/>
                </a:solidFill>
              </a:rPr>
              <a:t> data sources, including radar, MTG satellite imagery, lightning detection sensors, and NWP models</a:t>
            </a:r>
            <a:endParaRPr sz="1500">
              <a:solidFill>
                <a:srgbClr val="0B5394"/>
              </a:solidFill>
            </a:endParaRPr>
          </a:p>
          <a:p>
            <a:pPr indent="-323850" lvl="0" marL="457200" rtl="0" algn="l">
              <a:lnSpc>
                <a:spcPct val="115000"/>
              </a:lnSpc>
              <a:spcBef>
                <a:spcPts val="1000"/>
              </a:spcBef>
              <a:spcAft>
                <a:spcPts val="1000"/>
              </a:spcAft>
              <a:buClr>
                <a:srgbClr val="0B5394"/>
              </a:buClr>
              <a:buSzPts val="1500"/>
              <a:buChar char="-"/>
            </a:pPr>
            <a:r>
              <a:rPr lang="en" sz="1500">
                <a:solidFill>
                  <a:srgbClr val="0B5394"/>
                </a:solidFill>
              </a:rPr>
              <a:t>thoroughly document the adaptation process of the solution, enabling its use by other EUMETSAT member states</a:t>
            </a:r>
            <a:endParaRPr sz="1700">
              <a:solidFill>
                <a:srgbClr val="0B539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5" name="Google Shape;85;p16"/>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86" name="Google Shape;86;p16"/>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87" name="Google Shape;87;p16"/>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88" name="Google Shape;88;p16"/>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Objectives of the placement scheme</a:t>
            </a:r>
            <a:endParaRPr b="1" sz="1700">
              <a:solidFill>
                <a:srgbClr val="0B5394"/>
              </a:solidFill>
            </a:endParaRPr>
          </a:p>
        </p:txBody>
      </p:sp>
      <p:sp>
        <p:nvSpPr>
          <p:cNvPr id="89" name="Google Shape;89;p16"/>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Secondary objectives:</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explore ML-based solutions that extend predictive capabilities beyond the immediate nowcasting window, up to 6 hours (building upon existing solutions like ConvSNow or DeepSat ML models developed within NMA)</a:t>
            </a:r>
            <a:endParaRPr sz="1500">
              <a:solidFill>
                <a:srgbClr val="0B5394"/>
              </a:solidFill>
            </a:endParaRPr>
          </a:p>
          <a:p>
            <a:pPr indent="0" lvl="0" marL="457200" rtl="0" algn="l">
              <a:lnSpc>
                <a:spcPct val="115000"/>
              </a:lnSpc>
              <a:spcBef>
                <a:spcPts val="0"/>
              </a:spcBef>
              <a:spcAft>
                <a:spcPts val="0"/>
              </a:spcAft>
              <a:buNone/>
            </a:pPr>
            <a:r>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Support NWCSAF consortium activities</a:t>
            </a:r>
            <a:endParaRPr sz="1500">
              <a:solidFill>
                <a:srgbClr val="0B5394"/>
              </a:solidFill>
            </a:endParaRPr>
          </a:p>
          <a:p>
            <a:pPr indent="-323850" lvl="1" marL="914400" rtl="0" algn="l">
              <a:lnSpc>
                <a:spcPct val="115000"/>
              </a:lnSpc>
              <a:spcBef>
                <a:spcPts val="0"/>
              </a:spcBef>
              <a:spcAft>
                <a:spcPts val="0"/>
              </a:spcAft>
              <a:buClr>
                <a:srgbClr val="0B5394"/>
              </a:buClr>
              <a:buSzPts val="1500"/>
              <a:buChar char="-"/>
            </a:pPr>
            <a:r>
              <a:rPr lang="en" sz="1500">
                <a:solidFill>
                  <a:srgbClr val="0B5394"/>
                </a:solidFill>
              </a:rPr>
              <a:t>e</a:t>
            </a:r>
            <a:r>
              <a:rPr lang="en" sz="1500">
                <a:solidFill>
                  <a:srgbClr val="0B5394"/>
                </a:solidFill>
              </a:rPr>
              <a:t>xplore the possibility of generating up to 1 hour predictions on LI activity using MTG LI data and a ML approach</a:t>
            </a:r>
            <a:endParaRPr sz="1500">
              <a:solidFill>
                <a:srgbClr val="0B5394"/>
              </a:solidFill>
            </a:endParaRPr>
          </a:p>
          <a:p>
            <a:pPr indent="-323850" lvl="1" marL="914400" rtl="0" algn="l">
              <a:lnSpc>
                <a:spcPct val="115000"/>
              </a:lnSpc>
              <a:spcBef>
                <a:spcPts val="0"/>
              </a:spcBef>
              <a:spcAft>
                <a:spcPts val="0"/>
              </a:spcAft>
              <a:buClr>
                <a:srgbClr val="0B5394"/>
              </a:buClr>
              <a:buSzPts val="1500"/>
              <a:buChar char="-"/>
            </a:pPr>
            <a:r>
              <a:rPr lang="en" sz="1500">
                <a:solidFill>
                  <a:srgbClr val="0B5394"/>
                </a:solidFill>
              </a:rPr>
              <a:t>investigate the use of MTG LI products as an alternative to ground-based lightning detection systems in the integrated nowcasting tool</a:t>
            </a:r>
            <a:endParaRPr sz="1500">
              <a:solidFill>
                <a:srgbClr val="0B5394"/>
              </a:solidFill>
            </a:endParaRPr>
          </a:p>
          <a:p>
            <a:pPr indent="0" lvl="0" marL="457200" rtl="0" algn="l">
              <a:lnSpc>
                <a:spcPct val="115000"/>
              </a:lnSpc>
              <a:spcBef>
                <a:spcPts val="1000"/>
              </a:spcBef>
              <a:spcAft>
                <a:spcPts val="0"/>
              </a:spcAft>
              <a:buNone/>
            </a:pPr>
            <a:r>
              <a:t/>
            </a:r>
            <a:endParaRPr sz="1700">
              <a:solidFill>
                <a:srgbClr val="0B539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 name="Google Shape;95;p17"/>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96" name="Google Shape;96;p17"/>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97" name="Google Shape;97;p17"/>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98" name="Google Shape;98;p17"/>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Assumptions</a:t>
            </a:r>
            <a:endParaRPr b="1" sz="1700">
              <a:solidFill>
                <a:srgbClr val="0B5394"/>
              </a:solidFill>
            </a:endParaRPr>
          </a:p>
        </p:txBody>
      </p:sp>
      <p:sp>
        <p:nvSpPr>
          <p:cNvPr id="99" name="Google Shape;99;p17"/>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It would be preferable to adapt an existing solution, </a:t>
            </a:r>
            <a:r>
              <a:rPr lang="en" sz="1500">
                <a:solidFill>
                  <a:srgbClr val="0B5394"/>
                </a:solidFill>
              </a:rPr>
              <a:t>rather</a:t>
            </a:r>
            <a:r>
              <a:rPr lang="en" sz="1500">
                <a:solidFill>
                  <a:srgbClr val="0B5394"/>
                </a:solidFill>
              </a:rPr>
              <a:t> than developing a new one</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ML models relying primarily on radar data are inherently constrained in their ability to provide accurate predictions beyond a 1-hour lead time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Datasets are well structured and </a:t>
            </a:r>
            <a:r>
              <a:rPr lang="en" sz="1500">
                <a:solidFill>
                  <a:srgbClr val="0B5394"/>
                </a:solidFill>
              </a:rPr>
              <a:t>formatted, i.e. pre-processed for the training, testing, and validation phases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Established testing pipeline, resembling real world scenarios, for all iterations of the ML model</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The architecture of the proposed solution will still be relevant in the near-future (next 2-3 years?) and could be employed by other EUMETSAT members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a:t>
            </a:r>
            <a:r>
              <a:rPr lang="en" sz="1500">
                <a:solidFill>
                  <a:srgbClr val="0B5394"/>
                </a:solidFill>
              </a:rPr>
              <a:t>dequate e</a:t>
            </a:r>
            <a:r>
              <a:rPr lang="en" sz="1500">
                <a:solidFill>
                  <a:srgbClr val="0B5394"/>
                </a:solidFill>
              </a:rPr>
              <a:t>xpertise in ML and computer science, i.e. early-stage researcher with ML background, leading technical efforts, with full-support from experts from different departments (forecasting, satellite, radar, NWP)</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Adequate hardware infrastructure (up to 6 server-grade </a:t>
            </a:r>
            <a:r>
              <a:rPr lang="en" sz="1500">
                <a:solidFill>
                  <a:srgbClr val="0B5394"/>
                </a:solidFill>
              </a:rPr>
              <a:t>workstations</a:t>
            </a:r>
            <a:r>
              <a:rPr lang="en" sz="1500">
                <a:solidFill>
                  <a:srgbClr val="0B5394"/>
                </a:solidFill>
              </a:rPr>
              <a:t> with NVIDIA RTX A6000 GPUs - 48GB of VRAM or EWC)</a:t>
            </a:r>
            <a:endParaRPr sz="1500">
              <a:solidFill>
                <a:srgbClr val="0B539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5" name="Google Shape;105;p18"/>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06" name="Google Shape;106;p18"/>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07" name="Google Shape;107;p18"/>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08" name="Google Shape;108;p18"/>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Technical basis – data</a:t>
            </a:r>
            <a:endParaRPr b="1" sz="1700">
              <a:solidFill>
                <a:srgbClr val="0B5394"/>
              </a:solidFill>
            </a:endParaRPr>
          </a:p>
        </p:txBody>
      </p:sp>
      <p:sp>
        <p:nvSpPr>
          <p:cNvPr id="109" name="Google Shape;109;p18"/>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B5394"/>
              </a:buClr>
              <a:buSzPts val="1500"/>
              <a:buChar char="-"/>
            </a:pPr>
            <a:r>
              <a:rPr lang="en" sz="1500">
                <a:solidFill>
                  <a:srgbClr val="0B5394"/>
                </a:solidFill>
              </a:rPr>
              <a:t>Satellite data - MSG and MTG satellite imagery and RGB products</a:t>
            </a:r>
            <a:endParaRPr sz="1500">
              <a:solidFill>
                <a:srgbClr val="0B5394"/>
              </a:solidFill>
            </a:endParaRPr>
          </a:p>
          <a:p>
            <a:pPr indent="-323850" lvl="0" marL="457200" rtl="0" algn="l">
              <a:lnSpc>
                <a:spcPct val="150000"/>
              </a:lnSpc>
              <a:spcBef>
                <a:spcPts val="0"/>
              </a:spcBef>
              <a:spcAft>
                <a:spcPts val="0"/>
              </a:spcAft>
              <a:buClr>
                <a:srgbClr val="0B5394"/>
              </a:buClr>
              <a:buSzPts val="1500"/>
              <a:buChar char="-"/>
            </a:pPr>
            <a:r>
              <a:rPr lang="en" sz="1500">
                <a:solidFill>
                  <a:srgbClr val="0B5394"/>
                </a:solidFill>
              </a:rPr>
              <a:t>Radar data - high-resolution data from the new and old national radar systems (Leonardo, 7 locations)</a:t>
            </a:r>
            <a:endParaRPr sz="1500">
              <a:solidFill>
                <a:srgbClr val="0B5394"/>
              </a:solidFill>
            </a:endParaRPr>
          </a:p>
          <a:p>
            <a:pPr indent="-323850" lvl="0" marL="457200" rtl="0" algn="l">
              <a:lnSpc>
                <a:spcPct val="150000"/>
              </a:lnSpc>
              <a:spcBef>
                <a:spcPts val="0"/>
              </a:spcBef>
              <a:spcAft>
                <a:spcPts val="0"/>
              </a:spcAft>
              <a:buClr>
                <a:srgbClr val="0B5394"/>
              </a:buClr>
              <a:buSzPts val="1500"/>
              <a:buChar char="-"/>
            </a:pPr>
            <a:r>
              <a:rPr lang="en" sz="1500">
                <a:solidFill>
                  <a:srgbClr val="0B5394"/>
                </a:solidFill>
              </a:rPr>
              <a:t>Lightning data - LINET lightning data from the national system (8 stations)</a:t>
            </a:r>
            <a:endParaRPr sz="1500">
              <a:solidFill>
                <a:srgbClr val="0B5394"/>
              </a:solidFill>
            </a:endParaRPr>
          </a:p>
          <a:p>
            <a:pPr indent="-323850" lvl="0" marL="457200" rtl="0" algn="l">
              <a:lnSpc>
                <a:spcPct val="150000"/>
              </a:lnSpc>
              <a:spcBef>
                <a:spcPts val="0"/>
              </a:spcBef>
              <a:spcAft>
                <a:spcPts val="0"/>
              </a:spcAft>
              <a:buClr>
                <a:srgbClr val="0B5394"/>
              </a:buClr>
              <a:buSzPts val="1500"/>
              <a:buChar char="-"/>
            </a:pPr>
            <a:r>
              <a:rPr lang="en" sz="1500">
                <a:solidFill>
                  <a:srgbClr val="0B5394"/>
                </a:solidFill>
              </a:rPr>
              <a:t>NWP data (ICON 2.8, COSMO 7 and 2.8, ALARO 6.5 and 4, ECMWF Hres)</a:t>
            </a:r>
            <a:endParaRPr sz="1500">
              <a:solidFill>
                <a:srgbClr val="0B5394"/>
              </a:solidFill>
            </a:endParaRPr>
          </a:p>
          <a:p>
            <a:pPr indent="-323850" lvl="0" marL="457200" rtl="0" algn="l">
              <a:lnSpc>
                <a:spcPct val="150000"/>
              </a:lnSpc>
              <a:spcBef>
                <a:spcPts val="0"/>
              </a:spcBef>
              <a:spcAft>
                <a:spcPts val="0"/>
              </a:spcAft>
              <a:buClr>
                <a:srgbClr val="0B5394"/>
              </a:buClr>
              <a:buSzPts val="1500"/>
              <a:buChar char="-"/>
            </a:pPr>
            <a:r>
              <a:rPr lang="en" sz="1500">
                <a:solidFill>
                  <a:srgbClr val="0B5394"/>
                </a:solidFill>
              </a:rPr>
              <a:t>ERA5 reanalysis data (for initial training of the ML model)</a:t>
            </a:r>
            <a:endParaRPr sz="1500">
              <a:solidFill>
                <a:srgbClr val="0B5394"/>
              </a:solidFill>
            </a:endParaRPr>
          </a:p>
          <a:p>
            <a:pPr indent="-323850" lvl="0" marL="457200" rtl="0" algn="l">
              <a:lnSpc>
                <a:spcPct val="150000"/>
              </a:lnSpc>
              <a:spcBef>
                <a:spcPts val="0"/>
              </a:spcBef>
              <a:spcAft>
                <a:spcPts val="0"/>
              </a:spcAft>
              <a:buClr>
                <a:srgbClr val="0B5394"/>
              </a:buClr>
              <a:buSzPts val="1500"/>
              <a:buChar char="-"/>
            </a:pPr>
            <a:r>
              <a:rPr lang="en" sz="1500">
                <a:solidFill>
                  <a:srgbClr val="0B5394"/>
                </a:solidFill>
              </a:rPr>
              <a:t>AWS (surface and upper-air measurements for validation)</a:t>
            </a:r>
            <a:endParaRPr sz="1500">
              <a:solidFill>
                <a:srgbClr val="0B5394"/>
              </a:solidFill>
            </a:endParaRPr>
          </a:p>
          <a:p>
            <a:pPr indent="0" lvl="0" marL="457200" rtl="0" algn="l">
              <a:lnSpc>
                <a:spcPct val="115000"/>
              </a:lnSpc>
              <a:spcBef>
                <a:spcPts val="0"/>
              </a:spcBef>
              <a:spcAft>
                <a:spcPts val="0"/>
              </a:spcAft>
              <a:buNone/>
            </a:pPr>
            <a:r>
              <a:t/>
            </a:r>
            <a:endParaRPr sz="1500">
              <a:solidFill>
                <a:srgbClr val="0B539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 name="Google Shape;115;p19"/>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16" name="Google Shape;116;p19"/>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17" name="Google Shape;117;p19"/>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18" name="Google Shape;118;p19"/>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Scientific </a:t>
            </a:r>
            <a:r>
              <a:rPr b="1" lang="en" sz="1700">
                <a:solidFill>
                  <a:srgbClr val="0B5394"/>
                </a:solidFill>
              </a:rPr>
              <a:t>basis </a:t>
            </a:r>
            <a:r>
              <a:rPr b="1" lang="en" sz="1700">
                <a:solidFill>
                  <a:srgbClr val="0B5394"/>
                </a:solidFill>
              </a:rPr>
              <a:t>– tools</a:t>
            </a:r>
            <a:endParaRPr b="1" sz="1700">
              <a:solidFill>
                <a:srgbClr val="0B5394"/>
              </a:solidFill>
            </a:endParaRPr>
          </a:p>
        </p:txBody>
      </p:sp>
      <p:sp>
        <p:nvSpPr>
          <p:cNvPr id="119" name="Google Shape;119;p19"/>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Development tools and platforms considered:</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Python as the main programming language due to its versatility in the ML/AI field</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Docker on a Linux distribution, i.e Ubuntu, for virtualization (standardized training procedure in TensorFlow/PyTorch)</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AWS/GCP/Azure for testing and deploying the ML model into a cloud environment</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Pytroll, pySTEPS for data processing and visualization</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TensorFlow/PyTorch for training the ML solution</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ADAGUC Server for data distribution and visualization</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IBL's Visual Weather for forecaster interface</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In case it’s necessary, EWC for scalable computing resources</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5" name="Google Shape;125;p20"/>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26" name="Google Shape;126;p20"/>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27" name="Google Shape;127;p20"/>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28" name="Google Shape;128;p20"/>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Scientific basis – blending techniques</a:t>
            </a:r>
            <a:endParaRPr b="1" sz="1700">
              <a:solidFill>
                <a:srgbClr val="0B5394"/>
              </a:solidFill>
            </a:endParaRPr>
          </a:p>
        </p:txBody>
      </p:sp>
      <p:sp>
        <p:nvSpPr>
          <p:cNvPr id="129" name="Google Shape;129;p20"/>
          <p:cNvSpPr txBox="1"/>
          <p:nvPr/>
        </p:nvSpPr>
        <p:spPr>
          <a:xfrm>
            <a:off x="191250" y="118415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Key considerations: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b="1" lang="en" sz="1500">
                <a:solidFill>
                  <a:srgbClr val="0B5394"/>
                </a:solidFill>
              </a:rPr>
              <a:t>Scalability</a:t>
            </a:r>
            <a:r>
              <a:rPr lang="en" sz="1500">
                <a:solidFill>
                  <a:srgbClr val="0B5394"/>
                </a:solidFill>
              </a:rPr>
              <a:t> ensures the system can handle increasing data volumes.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b="1" lang="en" sz="1500">
                <a:solidFill>
                  <a:srgbClr val="0B5394"/>
                </a:solidFill>
              </a:rPr>
              <a:t>Interoperability </a:t>
            </a:r>
            <a:r>
              <a:rPr lang="en" sz="1500">
                <a:solidFill>
                  <a:srgbClr val="0B5394"/>
                </a:solidFill>
              </a:rPr>
              <a:t>ensures compatibility with existing weather systems and data formats.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b="1" lang="en" sz="1500">
                <a:solidFill>
                  <a:srgbClr val="0B5394"/>
                </a:solidFill>
              </a:rPr>
              <a:t>Latency </a:t>
            </a:r>
            <a:r>
              <a:rPr lang="en" sz="1500">
                <a:solidFill>
                  <a:srgbClr val="0B5394"/>
                </a:solidFill>
              </a:rPr>
              <a:t>optimization for near-real-time performance.</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b="1" lang="en" sz="1500">
                <a:solidFill>
                  <a:srgbClr val="0B5394"/>
                </a:solidFill>
              </a:rPr>
              <a:t>Fault-tolerant</a:t>
            </a:r>
            <a:r>
              <a:rPr lang="en" sz="1500">
                <a:solidFill>
                  <a:srgbClr val="0B5394"/>
                </a:solidFill>
              </a:rPr>
              <a:t> systems for continuous operation.</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0" lvl="0" marL="0" rtl="0" algn="l">
              <a:lnSpc>
                <a:spcPct val="115000"/>
              </a:lnSpc>
              <a:spcBef>
                <a:spcPts val="0"/>
              </a:spcBef>
              <a:spcAft>
                <a:spcPts val="0"/>
              </a:spcAft>
              <a:buNone/>
            </a:pPr>
            <a:r>
              <a:rPr lang="en" sz="1500">
                <a:solidFill>
                  <a:srgbClr val="0B5394"/>
                </a:solidFill>
              </a:rPr>
              <a:t>Model containerization:</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Package the model in containers (Docker) for scalable deployment that can easily be integrated with orchestration systems (Kubernetes).</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0" lvl="0" marL="0" rtl="0" algn="l">
              <a:lnSpc>
                <a:spcPct val="115000"/>
              </a:lnSpc>
              <a:spcBef>
                <a:spcPts val="0"/>
              </a:spcBef>
              <a:spcAft>
                <a:spcPts val="0"/>
              </a:spcAft>
              <a:buNone/>
            </a:pPr>
            <a:r>
              <a:rPr lang="en" sz="1500">
                <a:solidFill>
                  <a:srgbClr val="0B5394"/>
                </a:solidFill>
              </a:rPr>
              <a:t>Model monitoring:</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Use monitoring tools (Weights &amp; Biases) to track model performance and use feedback from operational predictions to continuously fine-tune the model.</a:t>
            </a:r>
            <a:endParaRPr sz="1500">
              <a:solidFill>
                <a:srgbClr val="0B539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5" name="Google Shape;135;p21"/>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36" name="Google Shape;136;p21"/>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37" name="Google Shape;137;p21"/>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38" name="Google Shape;138;p21"/>
          <p:cNvSpPr txBox="1"/>
          <p:nvPr/>
        </p:nvSpPr>
        <p:spPr>
          <a:xfrm>
            <a:off x="191500" y="750050"/>
            <a:ext cx="673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Scientific basis – relevant ML/AI solutions (ML approach)</a:t>
            </a:r>
            <a:endParaRPr b="1" sz="1700">
              <a:solidFill>
                <a:srgbClr val="0B5394"/>
              </a:solidFill>
            </a:endParaRPr>
          </a:p>
        </p:txBody>
      </p:sp>
      <p:sp>
        <p:nvSpPr>
          <p:cNvPr id="139" name="Google Shape;139;p21"/>
          <p:cNvSpPr txBox="1"/>
          <p:nvPr/>
        </p:nvSpPr>
        <p:spPr>
          <a:xfrm>
            <a:off x="161325" y="1184150"/>
            <a:ext cx="8761500" cy="3550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COALITION-4 (baseline and development starting point) – Operational short-range model at MeteoSwiss (Switzerland), Github</a:t>
            </a:r>
            <a:r>
              <a:rPr lang="en" sz="1500">
                <a:solidFill>
                  <a:srgbClr val="0B5394"/>
                </a:solidFill>
                <a:highlight>
                  <a:srgbClr val="93C47D"/>
                </a:highlight>
              </a:rPr>
              <a:t> codebase available</a:t>
            </a:r>
            <a:r>
              <a:rPr lang="en" sz="1500">
                <a:solidFill>
                  <a:srgbClr val="0B5394"/>
                </a:solidFill>
              </a:rPr>
              <a:t>, convolution-recurrent neural network approach used for predicting short lead-time weather events (lightning, hail, and </a:t>
            </a:r>
            <a:r>
              <a:rPr lang="en" sz="1500">
                <a:solidFill>
                  <a:srgbClr val="0B5394"/>
                </a:solidFill>
              </a:rPr>
              <a:t>heavy</a:t>
            </a:r>
            <a:r>
              <a:rPr lang="en" sz="1500">
                <a:solidFill>
                  <a:srgbClr val="0B5394"/>
                </a:solidFill>
              </a:rPr>
              <a:t> precipitation), trained on radar observations, satellite imagery, lightning measurements, NWP forecasts, and DEM data (</a:t>
            </a:r>
            <a:r>
              <a:rPr lang="en" sz="1500">
                <a:solidFill>
                  <a:srgbClr val="93C47D"/>
                </a:solidFill>
              </a:rPr>
              <a:t>considered</a:t>
            </a:r>
            <a:r>
              <a:rPr lang="en" sz="1500">
                <a:solidFill>
                  <a:srgbClr val="0B5394"/>
                </a:solidFill>
              </a:rPr>
              <a:t>) </a:t>
            </a:r>
            <a:endParaRPr sz="1500">
              <a:solidFill>
                <a:srgbClr val="0B5394"/>
              </a:solidFill>
            </a:endParaRPr>
          </a:p>
          <a:p>
            <a:pPr indent="0" lvl="0" marL="914400" rtl="0" algn="l">
              <a:lnSpc>
                <a:spcPct val="115000"/>
              </a:lnSpc>
              <a:spcBef>
                <a:spcPts val="0"/>
              </a:spcBef>
              <a:spcAft>
                <a:spcPts val="0"/>
              </a:spcAft>
              <a:buNone/>
            </a:pPr>
            <a:r>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AtmoRep – Global medium-range model, </a:t>
            </a:r>
            <a:r>
              <a:rPr lang="en" sz="1500">
                <a:solidFill>
                  <a:srgbClr val="0B5394"/>
                </a:solidFill>
                <a:highlight>
                  <a:srgbClr val="93C47D"/>
                </a:highlight>
              </a:rPr>
              <a:t>open source codebase</a:t>
            </a:r>
            <a:r>
              <a:rPr lang="en" sz="1500">
                <a:solidFill>
                  <a:srgbClr val="0B5394"/>
                </a:solidFill>
              </a:rPr>
              <a:t>, task-independent transformer-based neural network used for nowcasting, temporal interpolation, downscaling, and data bias correction, trained on ERA5 reanalysis data (</a:t>
            </a:r>
            <a:r>
              <a:rPr lang="en" sz="1500">
                <a:solidFill>
                  <a:srgbClr val="93C47D"/>
                </a:solidFill>
              </a:rPr>
              <a:t>considered</a:t>
            </a:r>
            <a:r>
              <a:rPr lang="en" sz="1500">
                <a:solidFill>
                  <a:srgbClr val="0B5394"/>
                </a:solidFill>
              </a:rPr>
              <a:t>)</a:t>
            </a:r>
            <a:endParaRPr sz="1500">
              <a:solidFill>
                <a:srgbClr val="0B5394"/>
              </a:solidFill>
            </a:endParaRPr>
          </a:p>
          <a:p>
            <a:pPr indent="0" lvl="0" marL="914400" rtl="0" algn="l">
              <a:lnSpc>
                <a:spcPct val="115000"/>
              </a:lnSpc>
              <a:spcBef>
                <a:spcPts val="0"/>
              </a:spcBef>
              <a:spcAft>
                <a:spcPts val="0"/>
              </a:spcAft>
              <a:buNone/>
            </a:pPr>
            <a:r>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FengWu – Global medium-range multi-modal model, </a:t>
            </a:r>
            <a:r>
              <a:rPr lang="en" sz="1500">
                <a:solidFill>
                  <a:srgbClr val="0B5394"/>
                </a:solidFill>
                <a:highlight>
                  <a:srgbClr val="F6B26B"/>
                </a:highlight>
              </a:rPr>
              <a:t>ONNX model available</a:t>
            </a:r>
            <a:r>
              <a:rPr lang="en" sz="1500">
                <a:solidFill>
                  <a:srgbClr val="0B5394"/>
                </a:solidFill>
              </a:rPr>
              <a:t>, encoder-decoders and cross-modal fusion Transformer along with a replay buffer mechanism to improve forecast performance (from RL literature), trained on ERA5 data (</a:t>
            </a:r>
            <a:r>
              <a:rPr lang="en" sz="1500">
                <a:solidFill>
                  <a:srgbClr val="F6B26B"/>
                </a:solidFill>
              </a:rPr>
              <a:t>partially considered</a:t>
            </a:r>
            <a:r>
              <a:rPr lang="en" sz="1500">
                <a:solidFill>
                  <a:srgbClr val="0B5394"/>
                </a:solidFill>
              </a:rPr>
              <a:t> – architecture)</a:t>
            </a:r>
            <a:endParaRPr sz="1500">
              <a:solidFill>
                <a:srgbClr val="0B539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 name="Google Shape;145;p22"/>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46" name="Google Shape;146;p22"/>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47" name="Google Shape;147;p22"/>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48" name="Google Shape;148;p22"/>
          <p:cNvSpPr txBox="1"/>
          <p:nvPr/>
        </p:nvSpPr>
        <p:spPr>
          <a:xfrm>
            <a:off x="191500" y="1331400"/>
            <a:ext cx="89157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DeepPhysiNet – Deep neural network that combines a Transformer-based network for extracting spatiotemporal features and a physics network that acts as a solver for partial differential equations (PDEs) of near-surface meteorological variables through the loss function, </a:t>
            </a:r>
            <a:r>
              <a:rPr lang="en" sz="1500">
                <a:solidFill>
                  <a:srgbClr val="0B5394"/>
                </a:solidFill>
              </a:rPr>
              <a:t>Github</a:t>
            </a:r>
            <a:r>
              <a:rPr lang="en" sz="1500">
                <a:solidFill>
                  <a:srgbClr val="0B5394"/>
                </a:solidFill>
                <a:highlight>
                  <a:srgbClr val="93C47D"/>
                </a:highlight>
              </a:rPr>
              <a:t> codebase available</a:t>
            </a:r>
            <a:r>
              <a:rPr lang="en" sz="1500">
                <a:solidFill>
                  <a:srgbClr val="0B5394"/>
                </a:solidFill>
              </a:rPr>
              <a:t>, trained on ERA5 data on a 6h temporal resolution and used over regional areas of China for wind speed, temperature, and relative humidity forecasts (</a:t>
            </a:r>
            <a:r>
              <a:rPr lang="en" sz="1500">
                <a:solidFill>
                  <a:srgbClr val="93C47D"/>
                </a:solidFill>
              </a:rPr>
              <a:t>considered</a:t>
            </a:r>
            <a:r>
              <a:rPr lang="en" sz="1500">
                <a:solidFill>
                  <a:srgbClr val="0B5394"/>
                </a:solidFill>
              </a:rPr>
              <a:t>) </a:t>
            </a:r>
            <a:endParaRPr sz="1500">
              <a:solidFill>
                <a:srgbClr val="0B5394"/>
              </a:solidFill>
            </a:endParaRPr>
          </a:p>
          <a:p>
            <a:pPr indent="0" lvl="0" marL="457200" rtl="0" algn="l">
              <a:lnSpc>
                <a:spcPct val="115000"/>
              </a:lnSpc>
              <a:spcBef>
                <a:spcPts val="0"/>
              </a:spcBef>
              <a:spcAft>
                <a:spcPts val="0"/>
              </a:spcAft>
              <a:buNone/>
            </a:pPr>
            <a:r>
              <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ClimODE – Neural advection PDE weather model, 3 components for capturing insights from data – attention conv network for global information, conv network for local information, and emission network for uncertainty estimation for lead times ranging from 6h to 36h, Github</a:t>
            </a:r>
            <a:r>
              <a:rPr lang="en" sz="1500">
                <a:solidFill>
                  <a:srgbClr val="0B5394"/>
                </a:solidFill>
                <a:highlight>
                  <a:srgbClr val="93C47D"/>
                </a:highlight>
              </a:rPr>
              <a:t> codebase available</a:t>
            </a:r>
            <a:r>
              <a:rPr lang="en" sz="1500">
                <a:solidFill>
                  <a:srgbClr val="0B5394"/>
                </a:solidFill>
              </a:rPr>
              <a:t>, trained on preprocessed version of ERA5 from WeatherBench (ground temperature, atmospheric temperature, geopotential, and ground wind vector of 6-hour timesteps) </a:t>
            </a:r>
            <a:r>
              <a:rPr b="1" lang="en" sz="1500">
                <a:solidFill>
                  <a:srgbClr val="0B5394"/>
                </a:solidFill>
              </a:rPr>
              <a:t>on a single 32GB NVIDIA V100 GPU</a:t>
            </a:r>
            <a:r>
              <a:rPr lang="en" sz="1500">
                <a:solidFill>
                  <a:srgbClr val="0B5394"/>
                </a:solidFill>
              </a:rPr>
              <a:t> (</a:t>
            </a:r>
            <a:r>
              <a:rPr lang="en" sz="1500">
                <a:solidFill>
                  <a:srgbClr val="93C47D"/>
                </a:solidFill>
              </a:rPr>
              <a:t>considered</a:t>
            </a:r>
            <a:r>
              <a:rPr lang="en" sz="1500">
                <a:solidFill>
                  <a:srgbClr val="0B5394"/>
                </a:solidFill>
              </a:rPr>
              <a:t>) </a:t>
            </a:r>
            <a:endParaRPr sz="1500">
              <a:solidFill>
                <a:srgbClr val="0B5394"/>
              </a:solidFill>
            </a:endParaRPr>
          </a:p>
        </p:txBody>
      </p:sp>
      <p:sp>
        <p:nvSpPr>
          <p:cNvPr id="149" name="Google Shape;149;p22"/>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Scientific basis – relevant ML/AI solutions (</a:t>
            </a:r>
            <a:r>
              <a:rPr b="1" lang="en" sz="1700">
                <a:solidFill>
                  <a:srgbClr val="0B5394"/>
                </a:solidFill>
              </a:rPr>
              <a:t>physics +</a:t>
            </a:r>
            <a:r>
              <a:rPr b="1" lang="en" sz="1700">
                <a:solidFill>
                  <a:srgbClr val="0B5394"/>
                </a:solidFill>
              </a:rPr>
              <a:t> ML approach)</a:t>
            </a:r>
            <a:endParaRPr b="1" sz="1700">
              <a:solidFill>
                <a:srgbClr val="0B5394"/>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5" name="Google Shape;155;p23"/>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56" name="Google Shape;156;p23"/>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57" name="Google Shape;157;p23"/>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58" name="Google Shape;158;p23"/>
          <p:cNvSpPr txBox="1"/>
          <p:nvPr/>
        </p:nvSpPr>
        <p:spPr>
          <a:xfrm>
            <a:off x="191500" y="750050"/>
            <a:ext cx="40992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Existing solutions</a:t>
            </a:r>
            <a:endParaRPr b="1" sz="1700">
              <a:solidFill>
                <a:srgbClr val="0B5394"/>
              </a:solidFill>
            </a:endParaRPr>
          </a:p>
        </p:txBody>
      </p:sp>
      <p:sp>
        <p:nvSpPr>
          <p:cNvPr id="159" name="Google Shape;159;p23"/>
          <p:cNvSpPr txBox="1"/>
          <p:nvPr/>
        </p:nvSpPr>
        <p:spPr>
          <a:xfrm>
            <a:off x="202900" y="1130275"/>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Potential solutions to adapt or to take valuable insights from </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p:txBody>
      </p:sp>
      <p:sp>
        <p:nvSpPr>
          <p:cNvPr id="160" name="Google Shape;160;p23"/>
          <p:cNvSpPr/>
          <p:nvPr/>
        </p:nvSpPr>
        <p:spPr>
          <a:xfrm>
            <a:off x="5389200" y="1734425"/>
            <a:ext cx="2948700" cy="640200"/>
          </a:xfrm>
          <a:prstGeom prst="roundRect">
            <a:avLst>
              <a:gd fmla="val 16667" name="adj"/>
            </a:avLst>
          </a:prstGeom>
          <a:solidFill>
            <a:schemeClr val="accent5"/>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chemeClr val="lt1"/>
                </a:solidFill>
              </a:rPr>
              <a:t>Hybrid (physics + ML) </a:t>
            </a:r>
            <a:r>
              <a:rPr b="1" lang="en" sz="1500">
                <a:solidFill>
                  <a:schemeClr val="lt1"/>
                </a:solidFill>
              </a:rPr>
              <a:t>solutions</a:t>
            </a:r>
            <a:endParaRPr b="1">
              <a:solidFill>
                <a:schemeClr val="lt1"/>
              </a:solidFill>
            </a:endParaRPr>
          </a:p>
        </p:txBody>
      </p:sp>
      <p:sp>
        <p:nvSpPr>
          <p:cNvPr id="161" name="Google Shape;161;p23"/>
          <p:cNvSpPr/>
          <p:nvPr/>
        </p:nvSpPr>
        <p:spPr>
          <a:xfrm>
            <a:off x="849850" y="1732922"/>
            <a:ext cx="2944500" cy="643200"/>
          </a:xfrm>
          <a:prstGeom prst="roundRect">
            <a:avLst>
              <a:gd fmla="val 16667" name="adj"/>
            </a:avLst>
          </a:prstGeom>
          <a:solidFill>
            <a:schemeClr val="accent5"/>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chemeClr val="lt1"/>
                </a:solidFill>
              </a:rPr>
              <a:t>ML solutions</a:t>
            </a:r>
            <a:endParaRPr b="1">
              <a:solidFill>
                <a:schemeClr val="lt1"/>
              </a:solidFill>
            </a:endParaRPr>
          </a:p>
        </p:txBody>
      </p:sp>
      <p:sp>
        <p:nvSpPr>
          <p:cNvPr id="162" name="Google Shape;162;p23"/>
          <p:cNvSpPr/>
          <p:nvPr/>
        </p:nvSpPr>
        <p:spPr>
          <a:xfrm>
            <a:off x="202900" y="2542425"/>
            <a:ext cx="4424400" cy="1257300"/>
          </a:xfrm>
          <a:prstGeom prst="rect">
            <a:avLst/>
          </a:prstGeom>
          <a:solidFill>
            <a:srgbClr val="F6B26B"/>
          </a:solid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000"/>
              <a:t>From EUMETSAT (Integrated Nowcasting Tools – 23-25 January 2024) </a:t>
            </a:r>
            <a:endParaRPr sz="1000"/>
          </a:p>
        </p:txBody>
      </p:sp>
      <p:sp>
        <p:nvSpPr>
          <p:cNvPr id="163" name="Google Shape;163;p23"/>
          <p:cNvSpPr/>
          <p:nvPr/>
        </p:nvSpPr>
        <p:spPr>
          <a:xfrm>
            <a:off x="308375" y="2852800"/>
            <a:ext cx="4223400" cy="9099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900" u="sng"/>
              <a:t>Baseline models</a:t>
            </a:r>
            <a:endParaRPr b="1" sz="900" u="sng"/>
          </a:p>
        </p:txBody>
      </p:sp>
      <p:sp>
        <p:nvSpPr>
          <p:cNvPr id="164" name="Google Shape;164;p23"/>
          <p:cNvSpPr/>
          <p:nvPr/>
        </p:nvSpPr>
        <p:spPr>
          <a:xfrm>
            <a:off x="1047048" y="4028173"/>
            <a:ext cx="925800" cy="7176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600"/>
              <a:t>FengWu</a:t>
            </a:r>
            <a:endParaRPr b="1" i="1" sz="600"/>
          </a:p>
        </p:txBody>
      </p:sp>
      <p:sp>
        <p:nvSpPr>
          <p:cNvPr id="165" name="Google Shape;165;p23"/>
          <p:cNvSpPr/>
          <p:nvPr/>
        </p:nvSpPr>
        <p:spPr>
          <a:xfrm>
            <a:off x="74874" y="4027426"/>
            <a:ext cx="926700" cy="7191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600"/>
              <a:t>AtmoRep</a:t>
            </a:r>
            <a:endParaRPr b="1" i="1" sz="600"/>
          </a:p>
        </p:txBody>
      </p:sp>
      <p:sp>
        <p:nvSpPr>
          <p:cNvPr id="166" name="Google Shape;166;p23"/>
          <p:cNvSpPr/>
          <p:nvPr/>
        </p:nvSpPr>
        <p:spPr>
          <a:xfrm>
            <a:off x="5389200" y="3122312"/>
            <a:ext cx="1408200" cy="12252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900"/>
              <a:t>ClimODE</a:t>
            </a:r>
            <a:endParaRPr b="1" i="1" sz="900"/>
          </a:p>
        </p:txBody>
      </p:sp>
      <p:sp>
        <p:nvSpPr>
          <p:cNvPr id="167" name="Google Shape;167;p23"/>
          <p:cNvSpPr/>
          <p:nvPr/>
        </p:nvSpPr>
        <p:spPr>
          <a:xfrm>
            <a:off x="6931800" y="3120650"/>
            <a:ext cx="1406100" cy="12285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900"/>
              <a:t>DeepPhysiNet</a:t>
            </a:r>
            <a:endParaRPr b="1" i="1" sz="900"/>
          </a:p>
        </p:txBody>
      </p:sp>
      <p:cxnSp>
        <p:nvCxnSpPr>
          <p:cNvPr id="168" name="Google Shape;168;p23"/>
          <p:cNvCxnSpPr/>
          <p:nvPr/>
        </p:nvCxnSpPr>
        <p:spPr>
          <a:xfrm>
            <a:off x="4956438" y="1595625"/>
            <a:ext cx="8100" cy="3150900"/>
          </a:xfrm>
          <a:prstGeom prst="straightConnector1">
            <a:avLst/>
          </a:prstGeom>
          <a:noFill/>
          <a:ln cap="flat" cmpd="sng" w="19050">
            <a:solidFill>
              <a:schemeClr val="dk1"/>
            </a:solidFill>
            <a:prstDash val="dash"/>
            <a:round/>
            <a:headEnd len="med" w="med" type="none"/>
            <a:tailEnd len="med" w="med" type="none"/>
          </a:ln>
        </p:spPr>
      </p:cxnSp>
      <p:sp>
        <p:nvSpPr>
          <p:cNvPr id="169" name="Google Shape;169;p23"/>
          <p:cNvSpPr/>
          <p:nvPr/>
        </p:nvSpPr>
        <p:spPr>
          <a:xfrm>
            <a:off x="1642838" y="3174975"/>
            <a:ext cx="1554475" cy="538800"/>
          </a:xfrm>
          <a:prstGeom prst="flowChartInputOutpu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p>
          <a:p>
            <a:pPr indent="0" lvl="0" marL="0" rtl="0" algn="ctr">
              <a:spcBef>
                <a:spcPts val="0"/>
              </a:spcBef>
              <a:spcAft>
                <a:spcPts val="0"/>
              </a:spcAft>
              <a:buNone/>
            </a:pPr>
            <a:r>
              <a:rPr b="1" i="1" lang="en" sz="900"/>
              <a:t>COALITION-4</a:t>
            </a:r>
            <a:endParaRPr b="1" i="1" sz="900">
              <a:solidFill>
                <a:schemeClr val="lt1"/>
              </a:solidFill>
            </a:endParaRPr>
          </a:p>
          <a:p>
            <a:pPr indent="0" lvl="0" marL="0" rtl="0" algn="ctr">
              <a:spcBef>
                <a:spcPts val="0"/>
              </a:spcBef>
              <a:spcAft>
                <a:spcPts val="0"/>
              </a:spcAft>
              <a:buNone/>
            </a:pPr>
            <a:r>
              <a:t/>
            </a:r>
            <a:endParaRPr b="1" sz="700"/>
          </a:p>
        </p:txBody>
      </p:sp>
      <p:sp>
        <p:nvSpPr>
          <p:cNvPr id="170" name="Google Shape;170;p23"/>
          <p:cNvSpPr/>
          <p:nvPr/>
        </p:nvSpPr>
        <p:spPr>
          <a:xfrm>
            <a:off x="402700" y="3174975"/>
            <a:ext cx="1554475" cy="538800"/>
          </a:xfrm>
          <a:prstGeom prst="flowChartInputOutpu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 sz="900">
                <a:solidFill>
                  <a:schemeClr val="dk1"/>
                </a:solidFill>
              </a:rPr>
              <a:t>EF Sat2Rad</a:t>
            </a:r>
            <a:endParaRPr b="1" i="1" sz="900">
              <a:solidFill>
                <a:schemeClr val="lt1"/>
              </a:solidFill>
            </a:endParaRPr>
          </a:p>
        </p:txBody>
      </p:sp>
      <p:sp>
        <p:nvSpPr>
          <p:cNvPr id="171" name="Google Shape;171;p23"/>
          <p:cNvSpPr/>
          <p:nvPr/>
        </p:nvSpPr>
        <p:spPr>
          <a:xfrm>
            <a:off x="2018300" y="4028172"/>
            <a:ext cx="925800" cy="7176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600"/>
              <a:t>NeuralGCM</a:t>
            </a:r>
            <a:endParaRPr b="1" i="1" sz="600"/>
          </a:p>
        </p:txBody>
      </p:sp>
      <p:sp>
        <p:nvSpPr>
          <p:cNvPr id="172" name="Google Shape;172;p23"/>
          <p:cNvSpPr/>
          <p:nvPr/>
        </p:nvSpPr>
        <p:spPr>
          <a:xfrm>
            <a:off x="3005977" y="4028175"/>
            <a:ext cx="925800" cy="7176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600"/>
              <a:t>AURORA</a:t>
            </a:r>
            <a:endParaRPr b="1" i="1" sz="600"/>
          </a:p>
        </p:txBody>
      </p:sp>
      <p:sp>
        <p:nvSpPr>
          <p:cNvPr id="173" name="Google Shape;173;p23"/>
          <p:cNvSpPr/>
          <p:nvPr/>
        </p:nvSpPr>
        <p:spPr>
          <a:xfrm>
            <a:off x="3981215" y="4028175"/>
            <a:ext cx="925800" cy="7176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600"/>
              <a:t>Prithvi WxC</a:t>
            </a:r>
            <a:endParaRPr b="1" i="1" sz="600"/>
          </a:p>
        </p:txBody>
      </p:sp>
      <p:sp>
        <p:nvSpPr>
          <p:cNvPr id="174" name="Google Shape;174;p23"/>
          <p:cNvSpPr/>
          <p:nvPr/>
        </p:nvSpPr>
        <p:spPr>
          <a:xfrm>
            <a:off x="2882975" y="3174975"/>
            <a:ext cx="1554475" cy="538800"/>
          </a:xfrm>
          <a:prstGeom prst="flowChartInputOutpu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 sz="900">
                <a:solidFill>
                  <a:schemeClr val="dk1"/>
                </a:solidFill>
              </a:rPr>
              <a:t>SepConv</a:t>
            </a:r>
            <a:endParaRPr b="1" i="1" sz="9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0" name="Google Shape;180;p24"/>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81" name="Google Shape;181;p24"/>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82" name="Google Shape;182;p24"/>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83" name="Google Shape;183;p24"/>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Development approach (1) – Constraints and methodology </a:t>
            </a:r>
            <a:endParaRPr b="1" sz="1700">
              <a:solidFill>
                <a:srgbClr val="0B5394"/>
              </a:solidFill>
            </a:endParaRPr>
          </a:p>
        </p:txBody>
      </p:sp>
      <p:sp>
        <p:nvSpPr>
          <p:cNvPr id="184" name="Google Shape;184;p24"/>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Key constraints: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Computational resources limited to RTX A6000 workstations.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Timeframe of 2 years for model development.</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a:p>
            <a:pPr indent="0" lvl="0" marL="0" rtl="0" algn="l">
              <a:lnSpc>
                <a:spcPct val="115000"/>
              </a:lnSpc>
              <a:spcBef>
                <a:spcPts val="0"/>
              </a:spcBef>
              <a:spcAft>
                <a:spcPts val="0"/>
              </a:spcAft>
              <a:buNone/>
            </a:pPr>
            <a:r>
              <a:rPr lang="en" sz="1500">
                <a:solidFill>
                  <a:srgbClr val="0B5394"/>
                </a:solidFill>
              </a:rPr>
              <a:t>Methodology:</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Fine-tuning existing solutions to leverage pre-trained models on, for example, ERA5 global data.</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Apply knowledge distillation to simplify models by reducing complexity and computational demand.</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0" name="Google Shape;190;p25"/>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191" name="Google Shape;191;p25"/>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192" name="Google Shape;192;p25"/>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193" name="Google Shape;193;p25"/>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Development approach (2) – ML pipeline</a:t>
            </a:r>
            <a:endParaRPr b="1" sz="1700">
              <a:solidFill>
                <a:srgbClr val="0B5394"/>
              </a:solidFill>
            </a:endParaRPr>
          </a:p>
        </p:txBody>
      </p:sp>
      <p:sp>
        <p:nvSpPr>
          <p:cNvPr id="194" name="Google Shape;194;p25"/>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B5394"/>
                </a:solidFill>
              </a:rPr>
              <a:t>Three-component model structure:</a:t>
            </a:r>
            <a:endParaRPr sz="1500">
              <a:solidFill>
                <a:srgbClr val="0B5394"/>
              </a:solidFill>
            </a:endParaRPr>
          </a:p>
          <a:p>
            <a:pPr indent="-323850" lvl="0" marL="457200" rtl="0" algn="l">
              <a:lnSpc>
                <a:spcPct val="115000"/>
              </a:lnSpc>
              <a:spcBef>
                <a:spcPts val="0"/>
              </a:spcBef>
              <a:spcAft>
                <a:spcPts val="0"/>
              </a:spcAft>
              <a:buClr>
                <a:srgbClr val="0B5394"/>
              </a:buClr>
              <a:buSzPts val="1500"/>
              <a:buAutoNum type="arabicPeriod"/>
            </a:pPr>
            <a:r>
              <a:rPr lang="en" sz="1500">
                <a:solidFill>
                  <a:srgbClr val="0B5394"/>
                </a:solidFill>
              </a:rPr>
              <a:t>Normal Weather (NW) model (t</a:t>
            </a:r>
            <a:r>
              <a:rPr lang="en" sz="1500">
                <a:solidFill>
                  <a:srgbClr val="0B5394"/>
                </a:solidFill>
              </a:rPr>
              <a:t>rained on global ERA5 lower-resolution data - foundation model)</a:t>
            </a:r>
            <a:r>
              <a:rPr lang="en" sz="1500">
                <a:solidFill>
                  <a:srgbClr val="0B5394"/>
                </a:solidFill>
              </a:rPr>
              <a:t>:</a:t>
            </a:r>
            <a:endParaRPr sz="1500">
              <a:solidFill>
                <a:srgbClr val="0B5394"/>
              </a:solidFill>
            </a:endParaRPr>
          </a:p>
          <a:p>
            <a:pPr indent="-323850" lvl="0" marL="914400" rtl="0" algn="l">
              <a:lnSpc>
                <a:spcPct val="115000"/>
              </a:lnSpc>
              <a:spcBef>
                <a:spcPts val="0"/>
              </a:spcBef>
              <a:spcAft>
                <a:spcPts val="0"/>
              </a:spcAft>
              <a:buClr>
                <a:srgbClr val="0B5394"/>
              </a:buClr>
              <a:buSzPts val="1500"/>
              <a:buChar char="●"/>
            </a:pPr>
            <a:r>
              <a:rPr lang="en" sz="1500">
                <a:solidFill>
                  <a:srgbClr val="0B5394"/>
                </a:solidFill>
              </a:rPr>
              <a:t>Optimal integration of spatial and temporal data </a:t>
            </a:r>
            <a:r>
              <a:rPr lang="en" sz="1500">
                <a:solidFill>
                  <a:srgbClr val="CC4125"/>
                </a:solidFill>
              </a:rPr>
              <a:t>(temporal-only if too much demand on hardware components)</a:t>
            </a:r>
            <a:r>
              <a:rPr lang="en" sz="1500">
                <a:solidFill>
                  <a:srgbClr val="0B5394"/>
                </a:solidFill>
              </a:rPr>
              <a:t>.</a:t>
            </a:r>
            <a:endParaRPr sz="1500">
              <a:solidFill>
                <a:srgbClr val="0B5394"/>
              </a:solidFill>
            </a:endParaRPr>
          </a:p>
          <a:p>
            <a:pPr indent="-323850" lvl="0" marL="914400" rtl="0" algn="l">
              <a:lnSpc>
                <a:spcPct val="115000"/>
              </a:lnSpc>
              <a:spcBef>
                <a:spcPts val="0"/>
              </a:spcBef>
              <a:spcAft>
                <a:spcPts val="0"/>
              </a:spcAft>
              <a:buClr>
                <a:srgbClr val="0B5394"/>
              </a:buClr>
              <a:buSzPts val="1500"/>
              <a:buChar char="●"/>
            </a:pPr>
            <a:r>
              <a:rPr lang="en" sz="1500">
                <a:solidFill>
                  <a:srgbClr val="0B5394"/>
                </a:solidFill>
              </a:rPr>
              <a:t>Fine-tune on higher resolution localized data from RNMA.</a:t>
            </a:r>
            <a:endParaRPr sz="1500">
              <a:solidFill>
                <a:srgbClr val="0B5394"/>
              </a:solidFill>
            </a:endParaRPr>
          </a:p>
          <a:p>
            <a:pPr indent="0" lvl="0" marL="0" rtl="0" algn="l">
              <a:lnSpc>
                <a:spcPct val="115000"/>
              </a:lnSpc>
              <a:spcBef>
                <a:spcPts val="0"/>
              </a:spcBef>
              <a:spcAft>
                <a:spcPts val="0"/>
              </a:spcAft>
              <a:buNone/>
            </a:pPr>
            <a:r>
              <a:rPr lang="en" sz="1500">
                <a:solidFill>
                  <a:srgbClr val="0B5394"/>
                </a:solidFill>
              </a:rPr>
              <a:t>2.     Extreme Weather (EW) model:</a:t>
            </a:r>
            <a:endParaRPr sz="1500">
              <a:solidFill>
                <a:srgbClr val="0B5394"/>
              </a:solidFill>
            </a:endParaRPr>
          </a:p>
          <a:p>
            <a:pPr indent="-323850" lvl="0" marL="914400" rtl="0" algn="l">
              <a:lnSpc>
                <a:spcPct val="115000"/>
              </a:lnSpc>
              <a:spcBef>
                <a:spcPts val="0"/>
              </a:spcBef>
              <a:spcAft>
                <a:spcPts val="0"/>
              </a:spcAft>
              <a:buClr>
                <a:srgbClr val="0B5394"/>
              </a:buClr>
              <a:buSzPts val="1500"/>
              <a:buChar char="●"/>
            </a:pPr>
            <a:r>
              <a:rPr lang="en" sz="1500">
                <a:solidFill>
                  <a:srgbClr val="0B5394"/>
                </a:solidFill>
              </a:rPr>
              <a:t>Trained on extreme weather events, acts as a scoring/filtering system for probabilistic results from the NW model, generating an </a:t>
            </a:r>
            <a:r>
              <a:rPr b="1" lang="en" sz="1500">
                <a:solidFill>
                  <a:srgbClr val="0B5394"/>
                </a:solidFill>
              </a:rPr>
              <a:t>aggravation coefficient </a:t>
            </a:r>
            <a:r>
              <a:rPr lang="en" sz="1500">
                <a:solidFill>
                  <a:srgbClr val="0B5394"/>
                </a:solidFill>
              </a:rPr>
              <a:t>that will be used for the loss function of the physics model.</a:t>
            </a:r>
            <a:endParaRPr sz="1500">
              <a:solidFill>
                <a:srgbClr val="0B5394"/>
              </a:solidFill>
            </a:endParaRPr>
          </a:p>
          <a:p>
            <a:pPr indent="0" lvl="0" marL="0" rtl="0" algn="l">
              <a:lnSpc>
                <a:spcPct val="115000"/>
              </a:lnSpc>
              <a:spcBef>
                <a:spcPts val="0"/>
              </a:spcBef>
              <a:spcAft>
                <a:spcPts val="0"/>
              </a:spcAft>
              <a:buNone/>
            </a:pPr>
            <a:r>
              <a:rPr lang="en" sz="1500">
                <a:solidFill>
                  <a:srgbClr val="0B5394"/>
                </a:solidFill>
              </a:rPr>
              <a:t>3.     Physics-based (Physx) model:</a:t>
            </a:r>
            <a:endParaRPr sz="1500">
              <a:solidFill>
                <a:srgbClr val="0B5394"/>
              </a:solidFill>
            </a:endParaRPr>
          </a:p>
          <a:p>
            <a:pPr indent="-323850" lvl="0" marL="914400" rtl="0" algn="l">
              <a:lnSpc>
                <a:spcPct val="115000"/>
              </a:lnSpc>
              <a:spcBef>
                <a:spcPts val="0"/>
              </a:spcBef>
              <a:spcAft>
                <a:spcPts val="0"/>
              </a:spcAft>
              <a:buClr>
                <a:srgbClr val="0B5394"/>
              </a:buClr>
              <a:buSzPts val="1500"/>
              <a:buChar char="●"/>
            </a:pPr>
            <a:r>
              <a:rPr lang="en" sz="1500">
                <a:solidFill>
                  <a:srgbClr val="0B5394"/>
                </a:solidFill>
              </a:rPr>
              <a:t>Uses a neural network that models and applies physics constraints, through the loss function, on the original inputs and outputs from NW and EW models so that we can achieve more robust predictions.</a:t>
            </a:r>
            <a:endParaRPr sz="1500">
              <a:solidFill>
                <a:srgbClr val="0B5394"/>
              </a:solidFill>
            </a:endParaRPr>
          </a:p>
          <a:p>
            <a:pPr indent="0" lvl="0" marL="0" rtl="0" algn="l">
              <a:lnSpc>
                <a:spcPct val="115000"/>
              </a:lnSpc>
              <a:spcBef>
                <a:spcPts val="0"/>
              </a:spcBef>
              <a:spcAft>
                <a:spcPts val="0"/>
              </a:spcAft>
              <a:buNone/>
            </a:pPr>
            <a:r>
              <a:t/>
            </a:r>
            <a:endParaRPr sz="1500">
              <a:solidFill>
                <a:srgbClr val="0B539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0" name="Google Shape;200;p26"/>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01" name="Google Shape;201;p26"/>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02" name="Google Shape;202;p26"/>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03" name="Google Shape;203;p26"/>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Development approach (3) – General pipeline scheme</a:t>
            </a:r>
            <a:endParaRPr b="1" sz="1700">
              <a:solidFill>
                <a:srgbClr val="0B5394"/>
              </a:solidFill>
            </a:endParaRPr>
          </a:p>
        </p:txBody>
      </p:sp>
      <p:sp>
        <p:nvSpPr>
          <p:cNvPr id="204" name="Google Shape;204;p26"/>
          <p:cNvSpPr txBox="1"/>
          <p:nvPr/>
        </p:nvSpPr>
        <p:spPr>
          <a:xfrm>
            <a:off x="191250" y="1296200"/>
            <a:ext cx="8761500" cy="33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500">
              <a:solidFill>
                <a:srgbClr val="0B5394"/>
              </a:solidFill>
            </a:endParaRPr>
          </a:p>
        </p:txBody>
      </p:sp>
      <p:pic>
        <p:nvPicPr>
          <p:cNvPr id="205" name="Google Shape;205;p26"/>
          <p:cNvPicPr preferRelativeResize="0"/>
          <p:nvPr/>
        </p:nvPicPr>
        <p:blipFill>
          <a:blip r:embed="rId5">
            <a:alphaModFix/>
          </a:blip>
          <a:stretch>
            <a:fillRect/>
          </a:stretch>
        </p:blipFill>
        <p:spPr>
          <a:xfrm>
            <a:off x="348755" y="2264375"/>
            <a:ext cx="1755649" cy="1005839"/>
          </a:xfrm>
          <a:prstGeom prst="rect">
            <a:avLst/>
          </a:prstGeom>
          <a:noFill/>
          <a:ln>
            <a:noFill/>
          </a:ln>
        </p:spPr>
      </p:pic>
      <p:pic>
        <p:nvPicPr>
          <p:cNvPr id="206" name="Google Shape;206;p26"/>
          <p:cNvPicPr preferRelativeResize="0"/>
          <p:nvPr/>
        </p:nvPicPr>
        <p:blipFill>
          <a:blip r:embed="rId6">
            <a:alphaModFix/>
          </a:blip>
          <a:stretch>
            <a:fillRect/>
          </a:stretch>
        </p:blipFill>
        <p:spPr>
          <a:xfrm>
            <a:off x="7055464" y="2264375"/>
            <a:ext cx="1755649" cy="1005840"/>
          </a:xfrm>
          <a:prstGeom prst="rect">
            <a:avLst/>
          </a:prstGeom>
          <a:noFill/>
          <a:ln>
            <a:noFill/>
          </a:ln>
        </p:spPr>
      </p:pic>
      <p:sp>
        <p:nvSpPr>
          <p:cNvPr id="207" name="Google Shape;207;p26"/>
          <p:cNvSpPr/>
          <p:nvPr/>
        </p:nvSpPr>
        <p:spPr>
          <a:xfrm>
            <a:off x="2504925" y="2170300"/>
            <a:ext cx="1116300" cy="1186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b="1" i="1" lang="en" sz="700"/>
              <a:t>Normal Weather network</a:t>
            </a:r>
            <a:endParaRPr b="1" i="1" sz="700"/>
          </a:p>
        </p:txBody>
      </p:sp>
      <p:sp>
        <p:nvSpPr>
          <p:cNvPr id="208" name="Google Shape;208;p26"/>
          <p:cNvSpPr/>
          <p:nvPr/>
        </p:nvSpPr>
        <p:spPr>
          <a:xfrm>
            <a:off x="4021775" y="2170300"/>
            <a:ext cx="1116300" cy="11865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b="1" i="1" lang="en" sz="700"/>
              <a:t>Extreme Weather network</a:t>
            </a:r>
            <a:endParaRPr b="1" i="1" sz="700"/>
          </a:p>
        </p:txBody>
      </p:sp>
      <p:sp>
        <p:nvSpPr>
          <p:cNvPr id="209" name="Google Shape;209;p26"/>
          <p:cNvSpPr/>
          <p:nvPr/>
        </p:nvSpPr>
        <p:spPr>
          <a:xfrm>
            <a:off x="5538625" y="2170350"/>
            <a:ext cx="1116300" cy="11865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b="1" i="1" lang="en" sz="700" u="sng"/>
              <a:t>Physics-based network</a:t>
            </a:r>
            <a:endParaRPr b="1" i="1" sz="700" u="sng"/>
          </a:p>
        </p:txBody>
      </p:sp>
      <p:pic>
        <p:nvPicPr>
          <p:cNvPr id="210" name="Google Shape;210;p26"/>
          <p:cNvPicPr preferRelativeResize="0"/>
          <p:nvPr/>
        </p:nvPicPr>
        <p:blipFill>
          <a:blip r:embed="rId7">
            <a:alphaModFix/>
          </a:blip>
          <a:stretch>
            <a:fillRect/>
          </a:stretch>
        </p:blipFill>
        <p:spPr>
          <a:xfrm>
            <a:off x="4497075" y="2365063"/>
            <a:ext cx="490500" cy="490500"/>
          </a:xfrm>
          <a:prstGeom prst="rect">
            <a:avLst/>
          </a:prstGeom>
          <a:noFill/>
          <a:ln>
            <a:noFill/>
          </a:ln>
        </p:spPr>
      </p:pic>
      <p:pic>
        <p:nvPicPr>
          <p:cNvPr id="211" name="Google Shape;211;p26"/>
          <p:cNvPicPr preferRelativeResize="0"/>
          <p:nvPr/>
        </p:nvPicPr>
        <p:blipFill>
          <a:blip r:embed="rId8">
            <a:alphaModFix/>
          </a:blip>
          <a:stretch>
            <a:fillRect/>
          </a:stretch>
        </p:blipFill>
        <p:spPr>
          <a:xfrm>
            <a:off x="3001200" y="2363413"/>
            <a:ext cx="493777" cy="493777"/>
          </a:xfrm>
          <a:prstGeom prst="rect">
            <a:avLst/>
          </a:prstGeom>
          <a:noFill/>
          <a:ln>
            <a:noFill/>
          </a:ln>
        </p:spPr>
      </p:pic>
      <p:pic>
        <p:nvPicPr>
          <p:cNvPr id="212" name="Google Shape;212;p26"/>
          <p:cNvPicPr preferRelativeResize="0"/>
          <p:nvPr/>
        </p:nvPicPr>
        <p:blipFill>
          <a:blip r:embed="rId9">
            <a:alphaModFix/>
          </a:blip>
          <a:stretch>
            <a:fillRect/>
          </a:stretch>
        </p:blipFill>
        <p:spPr>
          <a:xfrm>
            <a:off x="5989675" y="2363425"/>
            <a:ext cx="493777" cy="493777"/>
          </a:xfrm>
          <a:prstGeom prst="rect">
            <a:avLst/>
          </a:prstGeom>
          <a:noFill/>
          <a:ln>
            <a:noFill/>
          </a:ln>
        </p:spPr>
      </p:pic>
      <p:sp>
        <p:nvSpPr>
          <p:cNvPr id="213" name="Google Shape;213;p26"/>
          <p:cNvSpPr/>
          <p:nvPr/>
        </p:nvSpPr>
        <p:spPr>
          <a:xfrm>
            <a:off x="2104400" y="2711950"/>
            <a:ext cx="400500" cy="170400"/>
          </a:xfrm>
          <a:prstGeom prst="rightArrow">
            <a:avLst>
              <a:gd fmla="val 50000" name="adj1"/>
              <a:gd fmla="val 50000" name="adj2"/>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6"/>
          <p:cNvSpPr/>
          <p:nvPr/>
        </p:nvSpPr>
        <p:spPr>
          <a:xfrm>
            <a:off x="3621250" y="2711950"/>
            <a:ext cx="400500" cy="170400"/>
          </a:xfrm>
          <a:prstGeom prst="rightArrow">
            <a:avLst>
              <a:gd fmla="val 50000" name="adj1"/>
              <a:gd fmla="val 50000" name="adj2"/>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6"/>
          <p:cNvSpPr/>
          <p:nvPr/>
        </p:nvSpPr>
        <p:spPr>
          <a:xfrm flipH="1" rot="10800000">
            <a:off x="1615450" y="3270225"/>
            <a:ext cx="3057000" cy="382200"/>
          </a:xfrm>
          <a:prstGeom prst="uturnArrow">
            <a:avLst>
              <a:gd fmla="val 25000" name="adj1"/>
              <a:gd fmla="val 25000" name="adj2"/>
              <a:gd fmla="val 25000" name="adj3"/>
              <a:gd fmla="val 43750" name="adj4"/>
              <a:gd fmla="val 75000" name="adj5"/>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6"/>
          <p:cNvSpPr/>
          <p:nvPr/>
        </p:nvSpPr>
        <p:spPr>
          <a:xfrm>
            <a:off x="1615450" y="1882175"/>
            <a:ext cx="4811700" cy="382200"/>
          </a:xfrm>
          <a:prstGeom prst="uturnArrow">
            <a:avLst>
              <a:gd fmla="val 25000" name="adj1"/>
              <a:gd fmla="val 25000" name="adj2"/>
              <a:gd fmla="val 25000" name="adj3"/>
              <a:gd fmla="val 43750" name="adj4"/>
              <a:gd fmla="val 75000" name="adj5"/>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6"/>
          <p:cNvSpPr/>
          <p:nvPr/>
        </p:nvSpPr>
        <p:spPr>
          <a:xfrm>
            <a:off x="5138100" y="2711950"/>
            <a:ext cx="400500" cy="170400"/>
          </a:xfrm>
          <a:prstGeom prst="rightArrow">
            <a:avLst>
              <a:gd fmla="val 50000" name="adj1"/>
              <a:gd fmla="val 50000" name="adj2"/>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26"/>
          <p:cNvSpPr/>
          <p:nvPr/>
        </p:nvSpPr>
        <p:spPr>
          <a:xfrm>
            <a:off x="6654950" y="2711950"/>
            <a:ext cx="400500" cy="170400"/>
          </a:xfrm>
          <a:prstGeom prst="rightArrow">
            <a:avLst>
              <a:gd fmla="val 50000" name="adj1"/>
              <a:gd fmla="val 50000" name="adj2"/>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6"/>
          <p:cNvSpPr/>
          <p:nvPr/>
        </p:nvSpPr>
        <p:spPr>
          <a:xfrm flipH="1" rot="10800000">
            <a:off x="3272050" y="3356850"/>
            <a:ext cx="2896200" cy="548100"/>
          </a:xfrm>
          <a:prstGeom prst="curvedDownArrow">
            <a:avLst>
              <a:gd fmla="val 25000" name="adj1"/>
              <a:gd fmla="val 50000" name="adj2"/>
              <a:gd fmla="val 25000" name="adj3"/>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5" name="Google Shape;225;p27"/>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26" name="Google Shape;226;p27"/>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27" name="Google Shape;227;p27"/>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28" name="Google Shape;228;p27"/>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Generic specific elements</a:t>
            </a:r>
            <a:endParaRPr b="1" sz="1700">
              <a:solidFill>
                <a:srgbClr val="0B5394"/>
              </a:solidFill>
            </a:endParaRPr>
          </a:p>
        </p:txBody>
      </p:sp>
      <p:sp>
        <p:nvSpPr>
          <p:cNvPr id="229" name="Google Shape;229;p27"/>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Ensure the development of an adaptable data integration and preprocessing workflow to accommodate different formats and data sources </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Ensure that the system can scale to handle </a:t>
            </a:r>
            <a:r>
              <a:rPr lang="en" sz="1500">
                <a:solidFill>
                  <a:srgbClr val="0B5394"/>
                </a:solidFill>
              </a:rPr>
              <a:t>various</a:t>
            </a:r>
            <a:r>
              <a:rPr lang="en" sz="1500">
                <a:solidFill>
                  <a:srgbClr val="0B5394"/>
                </a:solidFill>
              </a:rPr>
              <a:t> data volumes </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Using OPERA data and working on the EWC </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Ensure comprehensive documentation to facilitate adaptation by other organizations, mainly EUMETSAT member states</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Working on the COALITION-4 git repository</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Evaluate</a:t>
            </a:r>
            <a:r>
              <a:rPr lang="en" sz="1500">
                <a:solidFill>
                  <a:srgbClr val="0B5394"/>
                </a:solidFill>
              </a:rPr>
              <a:t> the </a:t>
            </a:r>
            <a:r>
              <a:rPr lang="en" sz="1500">
                <a:solidFill>
                  <a:srgbClr val="0B5394"/>
                </a:solidFill>
              </a:rPr>
              <a:t>performance</a:t>
            </a:r>
            <a:r>
              <a:rPr lang="en" sz="1500">
                <a:solidFill>
                  <a:srgbClr val="0B5394"/>
                </a:solidFill>
              </a:rPr>
              <a:t> of the model in the ESSL testbed </a:t>
            </a:r>
            <a:endParaRPr sz="1500">
              <a:solidFill>
                <a:srgbClr val="0B5394"/>
              </a:solidFill>
            </a:endParaRPr>
          </a:p>
          <a:p>
            <a:pPr indent="-323850" lvl="0" marL="457200" rtl="0" algn="l">
              <a:lnSpc>
                <a:spcPct val="115000"/>
              </a:lnSpc>
              <a:spcBef>
                <a:spcPts val="1000"/>
              </a:spcBef>
              <a:spcAft>
                <a:spcPts val="1000"/>
              </a:spcAft>
              <a:buClr>
                <a:srgbClr val="0B5394"/>
              </a:buClr>
              <a:buSzPts val="1500"/>
              <a:buChar char="-"/>
            </a:pPr>
            <a:r>
              <a:rPr lang="en" sz="1500">
                <a:solidFill>
                  <a:srgbClr val="0B5394"/>
                </a:solidFill>
              </a:rPr>
              <a:t>Explore the usage of LI data </a:t>
            </a:r>
            <a:endParaRPr sz="1500">
              <a:solidFill>
                <a:srgbClr val="0B539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5" name="Google Shape;235;p28"/>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36" name="Google Shape;236;p28"/>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37" name="Google Shape;237;p28"/>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38" name="Google Shape;238;p28"/>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National and NWCSAF </a:t>
            </a:r>
            <a:r>
              <a:rPr b="1" lang="en" sz="1700">
                <a:solidFill>
                  <a:srgbClr val="0B5394"/>
                </a:solidFill>
              </a:rPr>
              <a:t>specific elements</a:t>
            </a:r>
            <a:endParaRPr b="1" sz="1700">
              <a:solidFill>
                <a:srgbClr val="0B5394"/>
              </a:solidFill>
            </a:endParaRPr>
          </a:p>
        </p:txBody>
      </p:sp>
      <p:sp>
        <p:nvSpPr>
          <p:cNvPr id="239" name="Google Shape;239;p28"/>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Romanian NMA severe weather </a:t>
            </a:r>
            <a:r>
              <a:rPr lang="en" sz="1500">
                <a:solidFill>
                  <a:srgbClr val="0B5394"/>
                </a:solidFill>
              </a:rPr>
              <a:t>warnings</a:t>
            </a:r>
            <a:r>
              <a:rPr lang="en" sz="1500">
                <a:solidFill>
                  <a:srgbClr val="0B5394"/>
                </a:solidFill>
              </a:rPr>
              <a:t> - 1 hour validity, at least 15 minutes lead time, specific thresholds for yellow, orange and red codes</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Particular radar products and NWP output </a:t>
            </a:r>
            <a:r>
              <a:rPr lang="en" sz="1500">
                <a:solidFill>
                  <a:srgbClr val="0B5394"/>
                </a:solidFill>
              </a:rPr>
              <a:t>parameters</a:t>
            </a:r>
            <a:r>
              <a:rPr lang="en" sz="1500">
                <a:solidFill>
                  <a:srgbClr val="0B5394"/>
                </a:solidFill>
              </a:rPr>
              <a:t> </a:t>
            </a:r>
            <a:endParaRPr sz="1500">
              <a:solidFill>
                <a:srgbClr val="0B5394"/>
              </a:solidFill>
            </a:endParaRPr>
          </a:p>
          <a:p>
            <a:pPr indent="-323850" lvl="0" marL="457200" rtl="0" algn="l">
              <a:lnSpc>
                <a:spcPct val="115000"/>
              </a:lnSpc>
              <a:spcBef>
                <a:spcPts val="1000"/>
              </a:spcBef>
              <a:spcAft>
                <a:spcPts val="1000"/>
              </a:spcAft>
              <a:buClr>
                <a:srgbClr val="0B5394"/>
              </a:buClr>
              <a:buSzPts val="1500"/>
              <a:buChar char="-"/>
            </a:pPr>
            <a:r>
              <a:rPr lang="en" sz="1500">
                <a:solidFill>
                  <a:srgbClr val="0B5394"/>
                </a:solidFill>
              </a:rPr>
              <a:t>Assess the performance of the model when using LI data instead of ground network for lightning detection  </a:t>
            </a:r>
            <a:endParaRPr sz="1500">
              <a:solidFill>
                <a:srgbClr val="0B5394"/>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5" name="Google Shape;245;p29"/>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46" name="Google Shape;246;p29"/>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47" name="Google Shape;247;p29"/>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48" name="Google Shape;248;p29"/>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Integration with the NMA </a:t>
            </a:r>
            <a:r>
              <a:rPr b="1" lang="en" sz="1700">
                <a:solidFill>
                  <a:srgbClr val="0B5394"/>
                </a:solidFill>
              </a:rPr>
              <a:t>operational</a:t>
            </a:r>
            <a:r>
              <a:rPr b="1" lang="en" sz="1700">
                <a:solidFill>
                  <a:srgbClr val="0B5394"/>
                </a:solidFill>
              </a:rPr>
              <a:t> environment</a:t>
            </a:r>
            <a:endParaRPr b="1" sz="1700">
              <a:solidFill>
                <a:srgbClr val="0B5394"/>
              </a:solidFill>
            </a:endParaRPr>
          </a:p>
        </p:txBody>
      </p:sp>
      <p:sp>
        <p:nvSpPr>
          <p:cNvPr id="249" name="Google Shape;249;p29"/>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the model will generate NetCDF files to ensure seamless integration with the existing visualization tool,</a:t>
            </a:r>
            <a:r>
              <a:rPr lang="en" sz="1500">
                <a:solidFill>
                  <a:srgbClr val="0B5394"/>
                </a:solidFill>
              </a:rPr>
              <a:t> i.e. IBL's Visual Weather system</a:t>
            </a:r>
            <a:endParaRPr sz="1500">
              <a:solidFill>
                <a:srgbClr val="0B5394"/>
              </a:solidFill>
            </a:endParaRPr>
          </a:p>
          <a:p>
            <a:pPr indent="-323850" lvl="0" marL="457200" rtl="0" algn="l">
              <a:lnSpc>
                <a:spcPct val="115000"/>
              </a:lnSpc>
              <a:spcBef>
                <a:spcPts val="1000"/>
              </a:spcBef>
              <a:spcAft>
                <a:spcPts val="0"/>
              </a:spcAft>
              <a:buClr>
                <a:srgbClr val="0B5394"/>
              </a:buClr>
              <a:buSzPts val="1500"/>
              <a:buChar char="-"/>
            </a:pPr>
            <a:r>
              <a:rPr lang="en" sz="1500">
                <a:solidFill>
                  <a:srgbClr val="0B5394"/>
                </a:solidFill>
              </a:rPr>
              <a:t>explore generating warning polygons in CAP or XML format to interface with the existing severe weather warning system, leveraging the experience from the EEA Norway grants project</a:t>
            </a:r>
            <a:endParaRPr sz="1500">
              <a:solidFill>
                <a:srgbClr val="0B5394"/>
              </a:solidFill>
            </a:endParaRPr>
          </a:p>
          <a:p>
            <a:pPr indent="-323850" lvl="0" marL="457200" rtl="0" algn="l">
              <a:lnSpc>
                <a:spcPct val="115000"/>
              </a:lnSpc>
              <a:spcBef>
                <a:spcPts val="1000"/>
              </a:spcBef>
              <a:spcAft>
                <a:spcPts val="1000"/>
              </a:spcAft>
              <a:buClr>
                <a:srgbClr val="0B5394"/>
              </a:buClr>
              <a:buSzPts val="1500"/>
              <a:buChar char="-"/>
            </a:pPr>
            <a:r>
              <a:rPr lang="en" sz="1500">
                <a:solidFill>
                  <a:srgbClr val="0B5394"/>
                </a:solidFill>
              </a:rPr>
              <a:t>design the workflow to support manual interventions for forecasters</a:t>
            </a:r>
            <a:endParaRPr sz="1500">
              <a:solidFill>
                <a:srgbClr val="0B539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5" name="Google Shape;255;p30"/>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56" name="Google Shape;256;p30"/>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57" name="Google Shape;257;p30"/>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58" name="Google Shape;258;p30"/>
          <p:cNvSpPr txBox="1"/>
          <p:nvPr/>
        </p:nvSpPr>
        <p:spPr>
          <a:xfrm>
            <a:off x="191500" y="75005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Risks and risk mitigation</a:t>
            </a:r>
            <a:endParaRPr b="1" sz="1700">
              <a:solidFill>
                <a:srgbClr val="0B5394"/>
              </a:solidFill>
            </a:endParaRPr>
          </a:p>
        </p:txBody>
      </p:sp>
      <p:sp>
        <p:nvSpPr>
          <p:cNvPr id="259" name="Google Shape;259;p30"/>
          <p:cNvSpPr txBox="1"/>
          <p:nvPr/>
        </p:nvSpPr>
        <p:spPr>
          <a:xfrm>
            <a:off x="191500" y="1331400"/>
            <a:ext cx="8761500" cy="3339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B5394"/>
              </a:buClr>
              <a:buSzPts val="1500"/>
              <a:buChar char="-"/>
            </a:pPr>
            <a:r>
              <a:rPr lang="en" sz="1500">
                <a:solidFill>
                  <a:srgbClr val="0B5394"/>
                </a:solidFill>
              </a:rPr>
              <a:t>Reduced accuracy for lead times up to 1 hour</a:t>
            </a:r>
            <a:endParaRPr sz="1500">
              <a:solidFill>
                <a:srgbClr val="0B5394"/>
              </a:solidFill>
            </a:endParaRPr>
          </a:p>
          <a:p>
            <a:pPr indent="0" lvl="0" marL="457200" rtl="0" algn="l">
              <a:lnSpc>
                <a:spcPct val="115000"/>
              </a:lnSpc>
              <a:spcBef>
                <a:spcPts val="0"/>
              </a:spcBef>
              <a:spcAft>
                <a:spcPts val="0"/>
              </a:spcAft>
              <a:buNone/>
            </a:pPr>
            <a:r>
              <a:rPr lang="en" sz="1500">
                <a:solidFill>
                  <a:srgbClr val="0B5394"/>
                </a:solidFill>
              </a:rPr>
              <a:t>solution - engagement with the original developers for support during the adaptation process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Lower </a:t>
            </a:r>
            <a:r>
              <a:rPr lang="en" sz="1500">
                <a:solidFill>
                  <a:srgbClr val="0B5394"/>
                </a:solidFill>
              </a:rPr>
              <a:t>performance</a:t>
            </a:r>
            <a:r>
              <a:rPr lang="en" sz="1500">
                <a:solidFill>
                  <a:srgbClr val="0B5394"/>
                </a:solidFill>
              </a:rPr>
              <a:t> of the adapted model in the Romanian context </a:t>
            </a:r>
            <a:endParaRPr sz="1500">
              <a:solidFill>
                <a:srgbClr val="0B5394"/>
              </a:solidFill>
            </a:endParaRPr>
          </a:p>
          <a:p>
            <a:pPr indent="0" lvl="0" marL="457200" rtl="0" algn="l">
              <a:lnSpc>
                <a:spcPct val="115000"/>
              </a:lnSpc>
              <a:spcBef>
                <a:spcPts val="0"/>
              </a:spcBef>
              <a:spcAft>
                <a:spcPts val="0"/>
              </a:spcAft>
              <a:buNone/>
            </a:pPr>
            <a:r>
              <a:rPr lang="en" sz="1500">
                <a:solidFill>
                  <a:srgbClr val="0B5394"/>
                </a:solidFill>
              </a:rPr>
              <a:t>solution - adjustments to the model and the training data in order to accommodate the geography specific aspects</a:t>
            </a:r>
            <a:endParaRPr sz="1500">
              <a:solidFill>
                <a:srgbClr val="0B5394"/>
              </a:solidFill>
            </a:endParaRPr>
          </a:p>
          <a:p>
            <a:pPr indent="-323850" lvl="0" marL="457200" rtl="0" algn="l">
              <a:lnSpc>
                <a:spcPct val="115000"/>
              </a:lnSpc>
              <a:spcBef>
                <a:spcPts val="0"/>
              </a:spcBef>
              <a:spcAft>
                <a:spcPts val="0"/>
              </a:spcAft>
              <a:buClr>
                <a:srgbClr val="0B5394"/>
              </a:buClr>
              <a:buSzPts val="1500"/>
              <a:buChar char="-"/>
            </a:pPr>
            <a:r>
              <a:rPr lang="en" sz="1500">
                <a:solidFill>
                  <a:srgbClr val="0B5394"/>
                </a:solidFill>
              </a:rPr>
              <a:t>Delays in achieving program goals within the two years planned period</a:t>
            </a:r>
            <a:endParaRPr sz="1500">
              <a:solidFill>
                <a:srgbClr val="0B5394"/>
              </a:solidFill>
            </a:endParaRPr>
          </a:p>
          <a:p>
            <a:pPr indent="0" lvl="0" marL="457200" rtl="0" algn="l">
              <a:lnSpc>
                <a:spcPct val="115000"/>
              </a:lnSpc>
              <a:spcBef>
                <a:spcPts val="0"/>
              </a:spcBef>
              <a:spcAft>
                <a:spcPts val="0"/>
              </a:spcAft>
              <a:buNone/>
            </a:pPr>
            <a:r>
              <a:rPr lang="en" sz="1500">
                <a:solidFill>
                  <a:srgbClr val="0B5394"/>
                </a:solidFill>
              </a:rPr>
              <a:t>solution - regular progress monitoring and reporting to colleagues from EUMETSAT, including detailed six-month progress reports / prioritization of objectives, focusing on the primary goal /</a:t>
            </a:r>
            <a:endParaRPr sz="1500">
              <a:solidFill>
                <a:srgbClr val="0B5394"/>
              </a:solidFill>
            </a:endParaRPr>
          </a:p>
          <a:p>
            <a:pPr indent="0" lvl="0" marL="457200" rtl="0" algn="l">
              <a:lnSpc>
                <a:spcPct val="115000"/>
              </a:lnSpc>
              <a:spcBef>
                <a:spcPts val="0"/>
              </a:spcBef>
              <a:spcAft>
                <a:spcPts val="0"/>
              </a:spcAft>
              <a:buClr>
                <a:schemeClr val="dk1"/>
              </a:buClr>
              <a:buSzPts val="1100"/>
              <a:buFont typeface="Arial"/>
              <a:buNone/>
            </a:pPr>
            <a:r>
              <a:rPr lang="en" sz="1500">
                <a:solidFill>
                  <a:srgbClr val="0B5394"/>
                </a:solidFill>
              </a:rPr>
              <a:t>alignment of secondary objectives with the primary one</a:t>
            </a:r>
            <a:endParaRPr sz="1500">
              <a:solidFill>
                <a:srgbClr val="0B5394"/>
              </a:solidFill>
            </a:endParaRPr>
          </a:p>
          <a:p>
            <a:pPr indent="0" lvl="0" marL="457200" rtl="0" algn="l">
              <a:lnSpc>
                <a:spcPct val="115000"/>
              </a:lnSpc>
              <a:spcBef>
                <a:spcPts val="0"/>
              </a:spcBef>
              <a:spcAft>
                <a:spcPts val="0"/>
              </a:spcAft>
              <a:buNone/>
            </a:pPr>
            <a:r>
              <a:t/>
            </a:r>
            <a:endParaRPr sz="1500">
              <a:solidFill>
                <a:srgbClr val="0B5394"/>
              </a:solidFill>
            </a:endParaRPr>
          </a:p>
          <a:p>
            <a:pPr indent="0" lvl="0" marL="457200" rtl="0" algn="l">
              <a:lnSpc>
                <a:spcPct val="115000"/>
              </a:lnSpc>
              <a:spcBef>
                <a:spcPts val="0"/>
              </a:spcBef>
              <a:spcAft>
                <a:spcPts val="0"/>
              </a:spcAft>
              <a:buNone/>
            </a:pPr>
            <a:r>
              <a:t/>
            </a:r>
            <a:endParaRPr sz="1500">
              <a:solidFill>
                <a:srgbClr val="0B539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p:nvPr/>
        </p:nvSpPr>
        <p:spPr>
          <a:xfrm>
            <a:off x="0" y="0"/>
            <a:ext cx="9144000" cy="490500"/>
          </a:xfrm>
          <a:prstGeom prst="rect">
            <a:avLst/>
          </a:prstGeom>
          <a:solidFill>
            <a:srgbClr val="0021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5" name="Google Shape;265;p31"/>
          <p:cNvPicPr preferRelativeResize="0"/>
          <p:nvPr/>
        </p:nvPicPr>
        <p:blipFill>
          <a:blip r:embed="rId3">
            <a:alphaModFix/>
          </a:blip>
          <a:stretch>
            <a:fillRect/>
          </a:stretch>
        </p:blipFill>
        <p:spPr>
          <a:xfrm>
            <a:off x="7941600" y="0"/>
            <a:ext cx="1202401" cy="464400"/>
          </a:xfrm>
          <a:prstGeom prst="rect">
            <a:avLst/>
          </a:prstGeom>
          <a:noFill/>
          <a:ln>
            <a:noFill/>
          </a:ln>
        </p:spPr>
      </p:pic>
      <p:pic>
        <p:nvPicPr>
          <p:cNvPr id="266" name="Google Shape;266;p31"/>
          <p:cNvPicPr preferRelativeResize="0"/>
          <p:nvPr/>
        </p:nvPicPr>
        <p:blipFill rotWithShape="1">
          <a:blip r:embed="rId4">
            <a:alphaModFix/>
          </a:blip>
          <a:srcRect b="0" l="-4078" r="48516" t="0"/>
          <a:stretch/>
        </p:blipFill>
        <p:spPr>
          <a:xfrm>
            <a:off x="44650" y="48275"/>
            <a:ext cx="630900" cy="393950"/>
          </a:xfrm>
          <a:prstGeom prst="rect">
            <a:avLst/>
          </a:prstGeom>
          <a:noFill/>
          <a:ln>
            <a:noFill/>
          </a:ln>
        </p:spPr>
      </p:pic>
      <p:sp>
        <p:nvSpPr>
          <p:cNvPr id="267" name="Google Shape;267;p31"/>
          <p:cNvSpPr txBox="1"/>
          <p:nvPr/>
        </p:nvSpPr>
        <p:spPr>
          <a:xfrm>
            <a:off x="3801000" y="4798250"/>
            <a:ext cx="1588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B5394"/>
                </a:solidFill>
              </a:rPr>
              <a:t>Bucharest, Nov 15</a:t>
            </a:r>
            <a:r>
              <a:rPr baseline="30000" lang="en" sz="900">
                <a:solidFill>
                  <a:srgbClr val="0B5394"/>
                </a:solidFill>
              </a:rPr>
              <a:t>th</a:t>
            </a:r>
            <a:r>
              <a:rPr lang="en" sz="900">
                <a:solidFill>
                  <a:srgbClr val="0B5394"/>
                </a:solidFill>
              </a:rPr>
              <a:t> 2024</a:t>
            </a:r>
            <a:endParaRPr sz="900">
              <a:solidFill>
                <a:srgbClr val="0B5394"/>
              </a:solidFill>
            </a:endParaRPr>
          </a:p>
        </p:txBody>
      </p:sp>
      <p:sp>
        <p:nvSpPr>
          <p:cNvPr id="268" name="Google Shape;268;p31"/>
          <p:cNvSpPr txBox="1"/>
          <p:nvPr/>
        </p:nvSpPr>
        <p:spPr>
          <a:xfrm>
            <a:off x="214350" y="551100"/>
            <a:ext cx="76686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B5394"/>
                </a:solidFill>
              </a:rPr>
              <a:t>References</a:t>
            </a:r>
            <a:endParaRPr b="1" sz="1700">
              <a:solidFill>
                <a:srgbClr val="0B5394"/>
              </a:solidFill>
            </a:endParaRPr>
          </a:p>
        </p:txBody>
      </p:sp>
      <p:sp>
        <p:nvSpPr>
          <p:cNvPr id="269" name="Google Shape;269;p31"/>
          <p:cNvSpPr txBox="1"/>
          <p:nvPr/>
        </p:nvSpPr>
        <p:spPr>
          <a:xfrm>
            <a:off x="191250" y="836875"/>
            <a:ext cx="8761500" cy="37830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ERA5</a:t>
            </a:r>
            <a:r>
              <a:rPr b="1" lang="en" sz="1000" u="sng">
                <a:solidFill>
                  <a:srgbClr val="0B5394"/>
                </a:solidFill>
              </a:rPr>
              <a:t> </a:t>
            </a:r>
            <a:endParaRPr b="1" sz="1000" u="sng">
              <a:solidFill>
                <a:srgbClr val="0B5394"/>
              </a:solidFill>
            </a:endParaRPr>
          </a:p>
          <a:p>
            <a:pPr indent="0" lvl="0" marL="457200" rtl="0" algn="l">
              <a:lnSpc>
                <a:spcPct val="115000"/>
              </a:lnSpc>
              <a:spcBef>
                <a:spcPts val="0"/>
              </a:spcBef>
              <a:spcAft>
                <a:spcPts val="0"/>
              </a:spcAft>
              <a:buNone/>
            </a:pPr>
            <a:r>
              <a:rPr lang="en" sz="700">
                <a:solidFill>
                  <a:srgbClr val="0B5394"/>
                </a:solidFill>
              </a:rPr>
              <a:t>Hersbach, H., Bell, B., Berrisford, P., Hirahara, S., Horányi, A., Muñoz-Sabater, J., Nicolas, J., Peubey, C., Radu, R., Schepers, D., Simmons, A., Soci, C., Abdalla, S., Abellan, X., Balsamo, G., Bechtold, P., Biavati, G., Bidlot, J., Bonavita, M., … Thépaut, J.-N. (2020). The ERA5 global reanalysis. Quarterly Journal of the Royal Meteorological Society, 146(730), 1999–2049. </a:t>
            </a:r>
            <a:r>
              <a:rPr lang="en" sz="700" u="sng">
                <a:solidFill>
                  <a:schemeClr val="hlink"/>
                </a:solidFill>
                <a:hlinkClick r:id="rId5"/>
              </a:rPr>
              <a:t>https://doi.org/https://doi.org/10.1002/qj.3803</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EF Sat2Rad</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Küçük, Ç., Giannakos, A., Schneider, S., &amp; Jann, A. (2023). Transformer-based nowcasting of radar composites from satellite images for severe weather. </a:t>
            </a:r>
            <a:r>
              <a:rPr lang="en" sz="700" u="sng">
                <a:solidFill>
                  <a:schemeClr val="hlink"/>
                </a:solidFill>
                <a:hlinkClick r:id="rId6"/>
              </a:rPr>
              <a:t>http://arxiv.org/abs/2310.19515</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COALITION-4</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Leinonen, J., Hamann, U., Sideris, I. v., &amp; Germann, U. (2022). Thunderstorm nowcasting with deep learning: a multi-hazard data fusion model. </a:t>
            </a:r>
            <a:r>
              <a:rPr lang="en" sz="700" u="sng">
                <a:solidFill>
                  <a:schemeClr val="hlink"/>
                </a:solidFill>
                <a:hlinkClick r:id="rId7"/>
              </a:rPr>
              <a:t>https://doi.org/10.1029/2022GL101626</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SepConv</a:t>
            </a:r>
            <a:endParaRPr sz="500">
              <a:solidFill>
                <a:srgbClr val="0B5394"/>
              </a:solidFill>
            </a:endParaRPr>
          </a:p>
          <a:p>
            <a:pPr indent="0" lvl="0" marL="457200" rtl="0" algn="l">
              <a:lnSpc>
                <a:spcPct val="115000"/>
              </a:lnSpc>
              <a:spcBef>
                <a:spcPts val="0"/>
              </a:spcBef>
              <a:spcAft>
                <a:spcPts val="0"/>
              </a:spcAft>
              <a:buNone/>
            </a:pPr>
            <a:r>
              <a:rPr lang="en" sz="700">
                <a:solidFill>
                  <a:srgbClr val="0B5394"/>
                </a:solidFill>
              </a:rPr>
              <a:t>http://www.cs.ubbcluj.ro/weadl/wp-content/uploads/2024/06/Predicting%20weather%20radar%20data%20using%20an%20ensemble%20of%20neural%20network%20models_Mihai.pdf</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AtmoRep</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Lessig, C., Luise, I., Gong, B., Langguth, M., Stadtler, S., &amp; Schultz, M. (2023). AtmoRep: A stochastic model of atmosphere dynamics using large scale representation learning. </a:t>
            </a:r>
            <a:r>
              <a:rPr lang="en" sz="700" u="sng">
                <a:solidFill>
                  <a:schemeClr val="hlink"/>
                </a:solidFill>
                <a:hlinkClick r:id="rId8"/>
              </a:rPr>
              <a:t>http://arxiv.org/abs/2308.13280</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FengWu</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Chen, K., Han, T., Gong, J., Bai, L., Ling, F., Luo, J.-J., Chen, X., Ma, L., Zhang, T., Su, R., Ci, Y., Li, B., Yang, X., &amp; Ouyang, W. (2023). FengWu: Pushing the Skillful Global Medium-range Weather Forecast beyond 10 Days Lead. </a:t>
            </a:r>
            <a:r>
              <a:rPr lang="en" sz="700" u="sng">
                <a:solidFill>
                  <a:schemeClr val="hlink"/>
                </a:solidFill>
                <a:hlinkClick r:id="rId9"/>
              </a:rPr>
              <a:t>http://arxiv.org/abs/2304.02948</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NeuralGCM</a:t>
            </a:r>
            <a:endParaRPr b="1" sz="800" u="sng">
              <a:solidFill>
                <a:srgbClr val="0B5394"/>
              </a:solidFill>
            </a:endParaRPr>
          </a:p>
          <a:p>
            <a:pPr indent="0" lvl="0" marL="457200" rtl="0" algn="l">
              <a:lnSpc>
                <a:spcPct val="115000"/>
              </a:lnSpc>
              <a:spcBef>
                <a:spcPts val="0"/>
              </a:spcBef>
              <a:spcAft>
                <a:spcPts val="0"/>
              </a:spcAft>
              <a:buClr>
                <a:schemeClr val="dk1"/>
              </a:buClr>
              <a:buSzPts val="1100"/>
              <a:buFont typeface="Arial"/>
              <a:buNone/>
            </a:pPr>
            <a:r>
              <a:rPr lang="en" sz="700">
                <a:solidFill>
                  <a:srgbClr val="0B5394"/>
                </a:solidFill>
              </a:rPr>
              <a:t>Kochkov, D., Yuval, J., Langmore, I., Norgaard, P., Smith, J., Mooers, G., Klöwer, M., Lottes, J., Rasp, S., Düben, P., Hatfield, S., Battaglia, P., Sanchez-Gonzalez, A., Willson, M., Brenner, M. P., &amp; Hoyer, S. (2023). Neural General Circulation Models for Weather and Climate. https://doi.org/10.1038/s41586-024-07744-y</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AURORA</a:t>
            </a:r>
            <a:endParaRPr b="1" sz="800" u="sng">
              <a:solidFill>
                <a:srgbClr val="0B5394"/>
              </a:solidFill>
            </a:endParaRPr>
          </a:p>
          <a:p>
            <a:pPr indent="0" lvl="0" marL="457200" rtl="0" algn="l">
              <a:lnSpc>
                <a:spcPct val="115000"/>
              </a:lnSpc>
              <a:spcBef>
                <a:spcPts val="0"/>
              </a:spcBef>
              <a:spcAft>
                <a:spcPts val="0"/>
              </a:spcAft>
              <a:buClr>
                <a:schemeClr val="dk1"/>
              </a:buClr>
              <a:buSzPts val="1100"/>
              <a:buFont typeface="Arial"/>
              <a:buNone/>
            </a:pPr>
            <a:r>
              <a:rPr lang="en" sz="700">
                <a:solidFill>
                  <a:srgbClr val="0B5394"/>
                </a:solidFill>
              </a:rPr>
              <a:t>Bodnar, C., Bruinsma, W. P., Lucic, A., Stanley, M., Brandstetter, J., Garvan, P., Riechert, M., Weyn, J., Dong, H., Vaughan, A., Gupta, J. K., Tambiratnam, K., Archibald, A., Heider, E., Welling, M., Turner, R. E., &amp; Perdikaris, P. (2024). Aurora: A Foundation Model of the Atmosphere. http://arxiv.org/abs/2405.13063</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Prithvi WxC</a:t>
            </a:r>
            <a:endParaRPr b="1" sz="800" u="sng">
              <a:solidFill>
                <a:srgbClr val="0B5394"/>
              </a:solidFill>
            </a:endParaRPr>
          </a:p>
          <a:p>
            <a:pPr indent="0" lvl="0" marL="457200" rtl="0" algn="l">
              <a:lnSpc>
                <a:spcPct val="115000"/>
              </a:lnSpc>
              <a:spcBef>
                <a:spcPts val="0"/>
              </a:spcBef>
              <a:spcAft>
                <a:spcPts val="0"/>
              </a:spcAft>
              <a:buClr>
                <a:schemeClr val="dk1"/>
              </a:buClr>
              <a:buSzPts val="1100"/>
              <a:buFont typeface="Arial"/>
              <a:buNone/>
            </a:pPr>
            <a:r>
              <a:rPr lang="en" sz="700">
                <a:solidFill>
                  <a:srgbClr val="0B5394"/>
                </a:solidFill>
              </a:rPr>
              <a:t>Schmude, J., Roy, S., Trojak, W., Jakubik, J., Civitarese, D. S., Singh, S., Kuehnert, J., Ankur, K., Gupta, A., Phillips, C. E., Kienzler, R., Szwarcman, D., Gaur, V., Shinde, R., Lal, R., da Silva, A., Diaz, J. L. G., Jones, A., Pfreundschuh, S., … Ramachandran, R. (2024). Prithvi WxC: Foundation Model for Weather and Climate. http://arxiv.org/abs/2409.13598</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ClimODE</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Verma, Y., Heinonen, M., &amp; Garg, V. (2024). ClimODE: Climate and Weather Forecasting with Physics-informed Neural ODEs. </a:t>
            </a:r>
            <a:r>
              <a:rPr lang="en" sz="700" u="sng">
                <a:solidFill>
                  <a:schemeClr val="hlink"/>
                </a:solidFill>
                <a:hlinkClick r:id="rId10"/>
              </a:rPr>
              <a:t>http://arxiv.org/abs/2404.10024</a:t>
            </a:r>
            <a:endParaRPr sz="700">
              <a:solidFill>
                <a:srgbClr val="0B5394"/>
              </a:solidFill>
            </a:endParaRPr>
          </a:p>
          <a:p>
            <a:pPr indent="-279400" lvl="0" marL="457200" rtl="0" algn="l">
              <a:lnSpc>
                <a:spcPct val="115000"/>
              </a:lnSpc>
              <a:spcBef>
                <a:spcPts val="0"/>
              </a:spcBef>
              <a:spcAft>
                <a:spcPts val="0"/>
              </a:spcAft>
              <a:buClr>
                <a:srgbClr val="0B5394"/>
              </a:buClr>
              <a:buSzPts val="800"/>
              <a:buAutoNum type="arabicPeriod"/>
            </a:pPr>
            <a:r>
              <a:rPr b="1" lang="en" sz="800" u="sng">
                <a:solidFill>
                  <a:srgbClr val="0B5394"/>
                </a:solidFill>
              </a:rPr>
              <a:t>DeepPhysiNet</a:t>
            </a:r>
            <a:endParaRPr b="1" sz="800" u="sng">
              <a:solidFill>
                <a:srgbClr val="0B5394"/>
              </a:solidFill>
            </a:endParaRPr>
          </a:p>
          <a:p>
            <a:pPr indent="0" lvl="0" marL="457200" rtl="0" algn="l">
              <a:lnSpc>
                <a:spcPct val="115000"/>
              </a:lnSpc>
              <a:spcBef>
                <a:spcPts val="0"/>
              </a:spcBef>
              <a:spcAft>
                <a:spcPts val="0"/>
              </a:spcAft>
              <a:buNone/>
            </a:pPr>
            <a:r>
              <a:rPr lang="en" sz="700">
                <a:solidFill>
                  <a:srgbClr val="0B5394"/>
                </a:solidFill>
              </a:rPr>
              <a:t>Li, W., Liu, Z., Chen, K., Chen, H., Liang, S., Zou, Z., &amp; Shi, Z. (2024). DeepPhysiNet: Bridging Deep Learning and Atmospheric Physics for Accurate and Continuous Weather Modeling. </a:t>
            </a:r>
            <a:r>
              <a:rPr lang="en" sz="700" u="sng">
                <a:solidFill>
                  <a:schemeClr val="hlink"/>
                </a:solidFill>
                <a:hlinkClick r:id="rId11"/>
              </a:rPr>
              <a:t>http://arxiv.org/abs/2401.04125</a:t>
            </a:r>
            <a:endParaRPr sz="500">
              <a:solidFill>
                <a:srgbClr val="0B5394"/>
              </a:solidFill>
            </a:endParaRPr>
          </a:p>
          <a:p>
            <a:pPr indent="0" lvl="0" marL="457200" rtl="0" algn="l">
              <a:lnSpc>
                <a:spcPct val="115000"/>
              </a:lnSpc>
              <a:spcBef>
                <a:spcPts val="0"/>
              </a:spcBef>
              <a:spcAft>
                <a:spcPts val="0"/>
              </a:spcAft>
              <a:buNone/>
            </a:pPr>
            <a:r>
              <a:t/>
            </a:r>
            <a:endParaRPr sz="700">
              <a:solidFill>
                <a:srgbClr val="0B5394"/>
              </a:solidFill>
            </a:endParaRPr>
          </a:p>
          <a:p>
            <a:pPr indent="0" lvl="0" marL="457200" rtl="0" algn="l">
              <a:lnSpc>
                <a:spcPct val="115000"/>
              </a:lnSpc>
              <a:spcBef>
                <a:spcPts val="0"/>
              </a:spcBef>
              <a:spcAft>
                <a:spcPts val="0"/>
              </a:spcAft>
              <a:buNone/>
            </a:pPr>
            <a:r>
              <a:t/>
            </a:r>
            <a:endParaRPr sz="800">
              <a:solidFill>
                <a:srgbClr val="0B539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