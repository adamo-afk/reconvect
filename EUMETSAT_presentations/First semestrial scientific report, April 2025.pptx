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10cefcd850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10cefcd850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ca144dc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ca144dc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ca144dc6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4ca144dc6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ca144dc6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ca144dc6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ca144dc6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ca144dc6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ca144dc6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ca144dc6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ca144dc6c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4ca144dc6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4ca144dc6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4ca144dc6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ca144dc6c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4ca144dc6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4ca144dc6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4ca144dc6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ca144dc6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4ca144dc6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/>
          </a:blip>
          <a:srcRect b="0" l="-4078" r="48516" t="0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807000" y="1928125"/>
            <a:ext cx="7500300" cy="16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B5394"/>
                </a:solidFill>
              </a:rPr>
              <a:t>Romanian NMA Training Placement Scheme </a:t>
            </a:r>
            <a:endParaRPr b="1" sz="2100">
              <a:solidFill>
                <a:srgbClr val="0B539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B5394"/>
                </a:solidFill>
              </a:rPr>
              <a:t>First semestrial scientific report, April 2025</a:t>
            </a:r>
            <a:endParaRPr b="1" sz="21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0B5394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801000" y="4798250"/>
            <a:ext cx="15882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B5394"/>
                </a:solidFill>
              </a:rPr>
              <a:t>Bucharest, Apr 16</a:t>
            </a:r>
            <a:r>
              <a:rPr baseline="30000" lang="en" sz="900">
                <a:solidFill>
                  <a:srgbClr val="0B5394"/>
                </a:solidFill>
              </a:rPr>
              <a:t>th</a:t>
            </a:r>
            <a:r>
              <a:rPr lang="en" sz="900">
                <a:solidFill>
                  <a:srgbClr val="0B5394"/>
                </a:solidFill>
              </a:rPr>
              <a:t> 2025</a:t>
            </a:r>
            <a:endParaRPr sz="900">
              <a:solidFill>
                <a:srgbClr val="0B5394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044375" y="2739625"/>
            <a:ext cx="3915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B5394"/>
                </a:solidFill>
              </a:rPr>
              <a:t>Claudiu Adam, Eugen Mihuleț</a:t>
            </a:r>
            <a:endParaRPr sz="17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 rotWithShape="1">
          <a:blip r:embed="rId4">
            <a:alphaModFix/>
          </a:blip>
          <a:srcRect b="0" l="-4078" r="48516" t="0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3801000" y="4798250"/>
            <a:ext cx="1588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B5394"/>
                </a:solidFill>
              </a:rPr>
              <a:t>Bucharest, Apr 16</a:t>
            </a:r>
            <a:r>
              <a:rPr baseline="30000" lang="en" sz="900">
                <a:solidFill>
                  <a:srgbClr val="0B5394"/>
                </a:solidFill>
              </a:rPr>
              <a:t>th</a:t>
            </a:r>
            <a:r>
              <a:rPr lang="en" sz="900">
                <a:solidFill>
                  <a:srgbClr val="0B5394"/>
                </a:solidFill>
              </a:rPr>
              <a:t> 2025</a:t>
            </a:r>
            <a:endParaRPr sz="900">
              <a:solidFill>
                <a:srgbClr val="0B5394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191500" y="750050"/>
            <a:ext cx="40992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B5394"/>
                </a:solidFill>
              </a:rPr>
              <a:t>Content of the presentation</a:t>
            </a:r>
            <a:endParaRPr b="1" sz="1700">
              <a:solidFill>
                <a:srgbClr val="0B5394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91500" y="1331400"/>
            <a:ext cx="8761500" cy="3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700"/>
              <a:buChar char="●"/>
            </a:pPr>
            <a:r>
              <a:rPr b="1" lang="en" sz="1700">
                <a:solidFill>
                  <a:srgbClr val="0B5394"/>
                </a:solidFill>
              </a:rPr>
              <a:t>Objectives of the program</a:t>
            </a:r>
            <a:endParaRPr b="1" sz="1700">
              <a:solidFill>
                <a:srgbClr val="0B5394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700"/>
              <a:buChar char="●"/>
            </a:pPr>
            <a:r>
              <a:rPr b="1" lang="en" sz="1700">
                <a:solidFill>
                  <a:srgbClr val="0B5394"/>
                </a:solidFill>
              </a:rPr>
              <a:t>Assumptions and constraints</a:t>
            </a:r>
            <a:endParaRPr b="1" sz="1700">
              <a:solidFill>
                <a:srgbClr val="0B5394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700"/>
              <a:buChar char="●"/>
            </a:pPr>
            <a:r>
              <a:rPr b="1" lang="en" sz="1700">
                <a:solidFill>
                  <a:srgbClr val="0B5394"/>
                </a:solidFill>
              </a:rPr>
              <a:t>Technical framework</a:t>
            </a:r>
            <a:endParaRPr b="1" sz="1700">
              <a:solidFill>
                <a:srgbClr val="0B5394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700"/>
              <a:buChar char="●"/>
            </a:pPr>
            <a:r>
              <a:rPr b="1" lang="en" sz="1700">
                <a:solidFill>
                  <a:srgbClr val="0B5394"/>
                </a:solidFill>
              </a:rPr>
              <a:t>Development and implementation</a:t>
            </a:r>
            <a:endParaRPr b="1" sz="1700">
              <a:solidFill>
                <a:srgbClr val="0B5394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700"/>
              <a:buChar char="●"/>
            </a:pPr>
            <a:r>
              <a:rPr b="1" lang="en" sz="1700">
                <a:solidFill>
                  <a:srgbClr val="0B5394"/>
                </a:solidFill>
              </a:rPr>
              <a:t>Challenges and risks</a:t>
            </a:r>
            <a:endParaRPr b="1" sz="1700">
              <a:solidFill>
                <a:srgbClr val="0B5394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700"/>
              <a:buChar char="●"/>
            </a:pPr>
            <a:r>
              <a:rPr b="1" lang="en" sz="1700">
                <a:solidFill>
                  <a:srgbClr val="0B5394"/>
                </a:solidFill>
              </a:rPr>
              <a:t>Next steps</a:t>
            </a:r>
            <a:endParaRPr b="1" sz="17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 rotWithShape="1">
          <a:blip r:embed="rId4">
            <a:alphaModFix/>
          </a:blip>
          <a:srcRect b="0" l="-4078" r="48516" t="0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3801000" y="4798250"/>
            <a:ext cx="1588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B5394"/>
                </a:solidFill>
              </a:rPr>
              <a:t>Bucharest, Apr 16</a:t>
            </a:r>
            <a:r>
              <a:rPr baseline="30000" lang="en" sz="900">
                <a:solidFill>
                  <a:srgbClr val="0B5394"/>
                </a:solidFill>
              </a:rPr>
              <a:t>th</a:t>
            </a:r>
            <a:r>
              <a:rPr lang="en" sz="900">
                <a:solidFill>
                  <a:srgbClr val="0B5394"/>
                </a:solidFill>
              </a:rPr>
              <a:t> 2025</a:t>
            </a:r>
            <a:endParaRPr sz="900">
              <a:solidFill>
                <a:srgbClr val="0B5394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191500" y="750050"/>
            <a:ext cx="40992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B5394"/>
                </a:solidFill>
              </a:rPr>
              <a:t>Objectives of the program</a:t>
            </a:r>
            <a:endParaRPr b="1" sz="1700">
              <a:solidFill>
                <a:srgbClr val="0B5394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191500" y="1331400"/>
            <a:ext cx="8761500" cy="3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Adapt and integrate COALITION-4 ML-based nowcasting system for Romania's severe weather warnings</a:t>
            </a:r>
            <a:endParaRPr b="1" sz="1500">
              <a:solidFill>
                <a:srgbClr val="0B5394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Create a high-precision system for 0-1 hour predictions of heavy rain, hail, and lightning</a:t>
            </a:r>
            <a:endParaRPr b="1" sz="1500">
              <a:solidFill>
                <a:srgbClr val="0B5394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Integrate multiple data sources including radar, satellite imagery, lightning detection, NWP, and Romania's DEM</a:t>
            </a:r>
            <a:endParaRPr b="1" sz="1500">
              <a:solidFill>
                <a:srgbClr val="0B5394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Document the adaptation process and publish code on MeteoSwiss GitHub for other EUMETSAT members</a:t>
            </a:r>
            <a:endParaRPr b="1" sz="1500">
              <a:solidFill>
                <a:srgbClr val="0B5394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Evaluate alternative AI nowcasting models alongside COALITION-4 implementation</a:t>
            </a:r>
            <a:endParaRPr b="1" sz="15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 rotWithShape="1">
          <a:blip r:embed="rId4">
            <a:alphaModFix/>
          </a:blip>
          <a:srcRect b="0" l="-4078" r="48516" t="0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/>
        </p:nvSpPr>
        <p:spPr>
          <a:xfrm>
            <a:off x="3801000" y="4798250"/>
            <a:ext cx="1588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B5394"/>
                </a:solidFill>
              </a:rPr>
              <a:t>Bucharest, Apr 16</a:t>
            </a:r>
            <a:r>
              <a:rPr baseline="30000" lang="en" sz="900">
                <a:solidFill>
                  <a:srgbClr val="0B5394"/>
                </a:solidFill>
              </a:rPr>
              <a:t>th</a:t>
            </a:r>
            <a:r>
              <a:rPr lang="en" sz="900">
                <a:solidFill>
                  <a:srgbClr val="0B5394"/>
                </a:solidFill>
              </a:rPr>
              <a:t> 2025</a:t>
            </a:r>
            <a:endParaRPr sz="900">
              <a:solidFill>
                <a:srgbClr val="0B5394"/>
              </a:solidFill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191500" y="750050"/>
            <a:ext cx="40992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B5394"/>
                </a:solidFill>
              </a:rPr>
              <a:t>Assumptions and constraints</a:t>
            </a:r>
            <a:endParaRPr b="1" sz="1700">
              <a:solidFill>
                <a:srgbClr val="0B5394"/>
              </a:solidFill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191500" y="1331400"/>
            <a:ext cx="8901900" cy="3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Adapting COALITION-4 is more efficient given resource constraints</a:t>
            </a:r>
            <a:endParaRPr b="1" sz="1500">
              <a:solidFill>
                <a:srgbClr val="0B5394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Model training limited to 2025-2026 convective seasons data due to FCI availability, NWP archive limitations, and radar product constraints</a:t>
            </a:r>
            <a:endParaRPr b="1" sz="1500">
              <a:solidFill>
                <a:srgbClr val="0B5394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Challenge of capturing extreme weather events due to their underrepresentation in training data</a:t>
            </a:r>
            <a:endParaRPr b="1" sz="1500">
              <a:solidFill>
                <a:srgbClr val="0B5394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Potential solution through dataset curation to maximize severe weather event representation</a:t>
            </a:r>
            <a:endParaRPr b="1" sz="1500">
              <a:solidFill>
                <a:srgbClr val="0B5394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Geographic adaptation concerns when applying models optimized for one region to Romania's specific topographic and climatic characteristics (solution: model fine-tuning)</a:t>
            </a:r>
            <a:endParaRPr b="1" sz="15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 rotWithShape="1">
          <a:blip r:embed="rId4">
            <a:alphaModFix/>
          </a:blip>
          <a:srcRect b="0" l="-4078" r="48516" t="0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3801000" y="4798250"/>
            <a:ext cx="1588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B5394"/>
                </a:solidFill>
              </a:rPr>
              <a:t>Bucharest, Apr 16</a:t>
            </a:r>
            <a:r>
              <a:rPr baseline="30000" lang="en" sz="900">
                <a:solidFill>
                  <a:srgbClr val="0B5394"/>
                </a:solidFill>
              </a:rPr>
              <a:t>th</a:t>
            </a:r>
            <a:r>
              <a:rPr lang="en" sz="900">
                <a:solidFill>
                  <a:srgbClr val="0B5394"/>
                </a:solidFill>
              </a:rPr>
              <a:t> 2025</a:t>
            </a:r>
            <a:endParaRPr sz="900">
              <a:solidFill>
                <a:srgbClr val="0B5394"/>
              </a:solidFill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191500" y="750050"/>
            <a:ext cx="87615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B5394"/>
                </a:solidFill>
              </a:rPr>
              <a:t>Technical framework (1) – Hardware, software, and model description </a:t>
            </a:r>
            <a:endParaRPr b="1" sz="1700">
              <a:solidFill>
                <a:srgbClr val="0B5394"/>
              </a:solidFill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191500" y="1331400"/>
            <a:ext cx="8761500" cy="3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Model uses recurrent-convolutional architecture with encoder-decoder structure for multi-hazard nowcasting (lightning, hail, precipitation)</a:t>
            </a:r>
            <a:endParaRPr b="1" sz="1500">
              <a:solidFill>
                <a:srgbClr val="0B5394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Hardware: Intel Xeon CPU, NVIDIA RTX A6000 GPU, 64GB RAM, 2TB SSD storage</a:t>
            </a:r>
            <a:endParaRPr b="1" sz="1500">
              <a:solidFill>
                <a:srgbClr val="0B5394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Software: Python 3.12.4, TensorFlow, Xarray, Dask, scikit-learn, CuPy for GPU-accelerated processing</a:t>
            </a:r>
            <a:endParaRPr b="1" sz="1500">
              <a:solidFill>
                <a:srgbClr val="0B5394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Data preprocessing leverages GPU acceleration to efficiently process 5-minute temporal resolution data</a:t>
            </a:r>
            <a:endParaRPr b="1" sz="1500">
              <a:solidFill>
                <a:srgbClr val="0B5394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Initial model demonstrates performance for short-term forecasts (5-60 min), with radar data proving most valuable among input sources</a:t>
            </a:r>
            <a:endParaRPr b="1" sz="15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/>
          <p:cNvPicPr preferRelativeResize="0"/>
          <p:nvPr/>
        </p:nvPicPr>
        <p:blipFill rotWithShape="1">
          <a:blip r:embed="rId4">
            <a:alphaModFix/>
          </a:blip>
          <a:srcRect b="0" l="-4078" r="48516" t="0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/>
        </p:nvSpPr>
        <p:spPr>
          <a:xfrm>
            <a:off x="3801000" y="4798250"/>
            <a:ext cx="1588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B5394"/>
                </a:solidFill>
              </a:rPr>
              <a:t>Bucharest, Apr 16</a:t>
            </a:r>
            <a:r>
              <a:rPr baseline="30000" lang="en" sz="900">
                <a:solidFill>
                  <a:srgbClr val="0B5394"/>
                </a:solidFill>
              </a:rPr>
              <a:t>th</a:t>
            </a:r>
            <a:r>
              <a:rPr lang="en" sz="900">
                <a:solidFill>
                  <a:srgbClr val="0B5394"/>
                </a:solidFill>
              </a:rPr>
              <a:t> 2025</a:t>
            </a:r>
            <a:endParaRPr sz="900">
              <a:solidFill>
                <a:srgbClr val="0B5394"/>
              </a:solidFill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191500" y="750050"/>
            <a:ext cx="87615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B5394"/>
                </a:solidFill>
              </a:rPr>
              <a:t>Technical framework (2) – </a:t>
            </a:r>
            <a:r>
              <a:rPr b="1" lang="en" sz="1700">
                <a:solidFill>
                  <a:srgbClr val="0B5394"/>
                </a:solidFill>
              </a:rPr>
              <a:t>Data sources</a:t>
            </a:r>
            <a:r>
              <a:rPr b="1" lang="en" sz="1700">
                <a:solidFill>
                  <a:srgbClr val="0B5394"/>
                </a:solidFill>
              </a:rPr>
              <a:t> </a:t>
            </a:r>
            <a:endParaRPr b="1" sz="1700">
              <a:solidFill>
                <a:srgbClr val="0B5394"/>
              </a:solidFill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191500" y="1331400"/>
            <a:ext cx="8761500" cy="3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Radar – generated in NetCDF format, Leonardo weather radar, 7 sites in NMA’s network </a:t>
            </a:r>
            <a:endParaRPr b="1" sz="1500">
              <a:solidFill>
                <a:srgbClr val="0B5394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NWP – generated in NetCDF format, ICON model, 2.8 km spatial resolution </a:t>
            </a:r>
            <a:endParaRPr b="1" sz="1500">
              <a:solidFill>
                <a:srgbClr val="0B5394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Satellite – NAT files converted to NetCDF files, FCI data, 0.5 - 2 km spatial resolution</a:t>
            </a:r>
            <a:endParaRPr b="1" sz="1500">
              <a:solidFill>
                <a:srgbClr val="0B5394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Lightning – KML files converted to NetCDF files, LINET lightning detection network, 9 sensors in NMA’s network</a:t>
            </a:r>
            <a:endParaRPr b="1" sz="1500">
              <a:solidFill>
                <a:srgbClr val="0B5394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DEM – GeoTIFF file converted to NetCDF file, 1 km spatial resolution</a:t>
            </a:r>
            <a:endParaRPr b="1" sz="15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/>
          <p:cNvPicPr preferRelativeResize="0"/>
          <p:nvPr/>
        </p:nvPicPr>
        <p:blipFill rotWithShape="1">
          <a:blip r:embed="rId4">
            <a:alphaModFix/>
          </a:blip>
          <a:srcRect b="0" l="-4078" r="48516" t="0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 txBox="1"/>
          <p:nvPr/>
        </p:nvSpPr>
        <p:spPr>
          <a:xfrm>
            <a:off x="3801000" y="4798250"/>
            <a:ext cx="1588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B5394"/>
                </a:solidFill>
              </a:rPr>
              <a:t>Bucharest, Apr 16</a:t>
            </a:r>
            <a:r>
              <a:rPr baseline="30000" lang="en" sz="900">
                <a:solidFill>
                  <a:srgbClr val="0B5394"/>
                </a:solidFill>
              </a:rPr>
              <a:t>th</a:t>
            </a:r>
            <a:r>
              <a:rPr lang="en" sz="900">
                <a:solidFill>
                  <a:srgbClr val="0B5394"/>
                </a:solidFill>
              </a:rPr>
              <a:t> 2025</a:t>
            </a:r>
            <a:endParaRPr sz="900">
              <a:solidFill>
                <a:srgbClr val="0B5394"/>
              </a:solidFill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191250" y="526850"/>
            <a:ext cx="87615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B5394"/>
                </a:solidFill>
              </a:rPr>
              <a:t>Development and implementation (1) – Projection and datasets</a:t>
            </a:r>
            <a:endParaRPr b="1" sz="1700">
              <a:solidFill>
                <a:srgbClr val="0B5394"/>
              </a:solidFill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191250" y="997300"/>
            <a:ext cx="8761500" cy="39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200"/>
              <a:buChar char="●"/>
            </a:pPr>
            <a:r>
              <a:rPr b="1" lang="en" sz="1200">
                <a:solidFill>
                  <a:srgbClr val="0B5394"/>
                </a:solidFill>
              </a:rPr>
              <a:t>Reconfigured COALITION-4 to use Romania's Stereographic 1970 projection (EPSG:31700) instead of Swiss projection, i</a:t>
            </a:r>
            <a:r>
              <a:rPr b="1" lang="en" sz="1200">
                <a:solidFill>
                  <a:srgbClr val="0B5394"/>
                </a:solidFill>
              </a:rPr>
              <a:t>ncluded a 256 km buffer zone around borders to prevent boundary effects in the model's patch architecture</a:t>
            </a:r>
            <a:endParaRPr b="1" sz="1200">
              <a:solidFill>
                <a:srgbClr val="0B5394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B5394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200"/>
              <a:buChar char="●"/>
            </a:pPr>
            <a:r>
              <a:rPr b="1" lang="en" sz="1200">
                <a:solidFill>
                  <a:srgbClr val="0B5394"/>
                </a:solidFill>
              </a:rPr>
              <a:t>DEM data transformed from TIFF to NetCDF with calculated terrain derivatives (east-west and north-south slopes)</a:t>
            </a:r>
            <a:endParaRPr b="1" sz="1200">
              <a:solidFill>
                <a:srgbClr val="0B5394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B5394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200"/>
              <a:buChar char="●"/>
            </a:pPr>
            <a:r>
              <a:rPr b="1" lang="en" sz="1200">
                <a:solidFill>
                  <a:srgbClr val="0B5394"/>
                </a:solidFill>
              </a:rPr>
              <a:t>Lightning data converted from KML to NetCDF format using GPU-accelerated 8 km grid mapping (max lat and lon coordinates mapped so the distance between 2 pixels represents 8 km distance), g</a:t>
            </a:r>
            <a:r>
              <a:rPr b="1" lang="en" sz="1200">
                <a:solidFill>
                  <a:srgbClr val="0B5394"/>
                </a:solidFill>
              </a:rPr>
              <a:t>enerated binary occurrence, density, and current-weighted maps at 5-minute intervals</a:t>
            </a:r>
            <a:endParaRPr b="1" sz="1200">
              <a:solidFill>
                <a:srgbClr val="0B5394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B5394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200"/>
              <a:buChar char="●"/>
            </a:pPr>
            <a:r>
              <a:rPr b="1" lang="en" sz="1200">
                <a:solidFill>
                  <a:srgbClr val="0B5394"/>
                </a:solidFill>
              </a:rPr>
              <a:t>Acquired 12 SEVIRI data products from EUMETSAT Data Store and processed into standardized NetCDF format</a:t>
            </a:r>
            <a:endParaRPr b="1" sz="1200">
              <a:solidFill>
                <a:srgbClr val="0B5394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B5394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200"/>
              <a:buChar char="●"/>
            </a:pPr>
            <a:r>
              <a:rPr b="1" lang="en" sz="1200">
                <a:solidFill>
                  <a:srgbClr val="0B5394"/>
                </a:solidFill>
              </a:rPr>
              <a:t>NMA radar network with seven sites provides data every 5 minutes with multiple products </a:t>
            </a:r>
            <a:r>
              <a:rPr b="1" lang="en" sz="1200">
                <a:solidFill>
                  <a:srgbClr val="0B5394"/>
                </a:solidFill>
              </a:rPr>
              <a:t>(rain rate, reflectivity, echotops, VIL, etc.)</a:t>
            </a:r>
            <a:endParaRPr b="1" sz="1200">
              <a:solidFill>
                <a:srgbClr val="0B5394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B5394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200"/>
              <a:buChar char="●"/>
            </a:pPr>
            <a:r>
              <a:rPr b="1" lang="en" sz="1200">
                <a:solidFill>
                  <a:srgbClr val="0B5394"/>
                </a:solidFill>
              </a:rPr>
              <a:t>Using ICON 2.8km NWP model instead of COSMO due to better regional performance with 10 parameters</a:t>
            </a:r>
            <a:endParaRPr b="1" sz="12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0"/>
          <p:cNvPicPr preferRelativeResize="0"/>
          <p:nvPr/>
        </p:nvPicPr>
        <p:blipFill rotWithShape="1">
          <a:blip r:embed="rId4">
            <a:alphaModFix/>
          </a:blip>
          <a:srcRect b="0" l="-4078" r="48516" t="0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 txBox="1"/>
          <p:nvPr/>
        </p:nvSpPr>
        <p:spPr>
          <a:xfrm>
            <a:off x="3801000" y="4798250"/>
            <a:ext cx="1588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B5394"/>
                </a:solidFill>
              </a:rPr>
              <a:t>Bucharest, Apr 16</a:t>
            </a:r>
            <a:r>
              <a:rPr baseline="30000" lang="en" sz="900">
                <a:solidFill>
                  <a:srgbClr val="0B5394"/>
                </a:solidFill>
              </a:rPr>
              <a:t>th</a:t>
            </a:r>
            <a:r>
              <a:rPr lang="en" sz="900">
                <a:solidFill>
                  <a:srgbClr val="0B5394"/>
                </a:solidFill>
              </a:rPr>
              <a:t> 2025</a:t>
            </a:r>
            <a:endParaRPr sz="900">
              <a:solidFill>
                <a:srgbClr val="0B5394"/>
              </a:solidFill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191250" y="526850"/>
            <a:ext cx="87615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B5394"/>
                </a:solidFill>
              </a:rPr>
              <a:t>Development and implementation (1) – Projection and datasets</a:t>
            </a:r>
            <a:endParaRPr b="1" sz="1700">
              <a:solidFill>
                <a:srgbClr val="0B5394"/>
              </a:solidFill>
            </a:endParaRPr>
          </a:p>
        </p:txBody>
      </p:sp>
      <p:pic>
        <p:nvPicPr>
          <p:cNvPr id="129" name="Google Shape;129;p20" title="area exten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0688" y="960950"/>
            <a:ext cx="3380125" cy="341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/>
          <p:nvPr/>
        </p:nvSpPr>
        <p:spPr>
          <a:xfrm>
            <a:off x="2829424" y="4429550"/>
            <a:ext cx="30027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B5394"/>
                </a:solidFill>
              </a:rPr>
              <a:t>Area extent of model domain</a:t>
            </a:r>
            <a:endParaRPr b="1" sz="15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/>
          <p:cNvPicPr preferRelativeResize="0"/>
          <p:nvPr/>
        </p:nvPicPr>
        <p:blipFill rotWithShape="1">
          <a:blip r:embed="rId4">
            <a:alphaModFix/>
          </a:blip>
          <a:srcRect b="0" l="-4078" r="48516" t="0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/>
          <p:nvPr/>
        </p:nvSpPr>
        <p:spPr>
          <a:xfrm>
            <a:off x="3801000" y="4798250"/>
            <a:ext cx="1588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B5394"/>
                </a:solidFill>
              </a:rPr>
              <a:t>Bucharest, Apr 16</a:t>
            </a:r>
            <a:r>
              <a:rPr baseline="30000" lang="en" sz="900">
                <a:solidFill>
                  <a:srgbClr val="0B5394"/>
                </a:solidFill>
              </a:rPr>
              <a:t>th</a:t>
            </a:r>
            <a:r>
              <a:rPr lang="en" sz="900">
                <a:solidFill>
                  <a:srgbClr val="0B5394"/>
                </a:solidFill>
              </a:rPr>
              <a:t> 2025</a:t>
            </a:r>
            <a:endParaRPr sz="900">
              <a:solidFill>
                <a:srgbClr val="0B5394"/>
              </a:solidFill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191500" y="750050"/>
            <a:ext cx="87615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B5394"/>
                </a:solidFill>
              </a:rPr>
              <a:t>Development and implementation (2) – Patch creation and code optimization</a:t>
            </a:r>
            <a:endParaRPr b="1" sz="1700">
              <a:solidFill>
                <a:srgbClr val="0B5394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191500" y="1331400"/>
            <a:ext cx="5718600" cy="3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200"/>
              <a:buChar char="●"/>
            </a:pPr>
            <a:r>
              <a:rPr b="1" lang="en" sz="1200">
                <a:solidFill>
                  <a:srgbClr val="0B5394"/>
                </a:solidFill>
              </a:rPr>
              <a:t>Identifying storm cells in radar data using DBSCAN clustering and extracting 256×256 pixel patches</a:t>
            </a:r>
            <a:endParaRPr b="1" sz="1200">
              <a:solidFill>
                <a:srgbClr val="0B5394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B5394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200"/>
              <a:buChar char="●"/>
            </a:pPr>
            <a:r>
              <a:rPr b="1" lang="en" sz="1200">
                <a:solidFill>
                  <a:srgbClr val="0B5394"/>
                </a:solidFill>
              </a:rPr>
              <a:t>Aligning data sources with different resolutions through GPU-accelerated coordinate mapping and standardizing to 32×32 patches</a:t>
            </a:r>
            <a:endParaRPr b="1" sz="1200">
              <a:solidFill>
                <a:srgbClr val="0B5394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B5394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200"/>
              <a:buChar char="●"/>
            </a:pPr>
            <a:r>
              <a:rPr b="1" lang="en" sz="1200">
                <a:solidFill>
                  <a:srgbClr val="0B5394"/>
                </a:solidFill>
              </a:rPr>
              <a:t>Accelerated processing through parallel CPU operations and GPU acceleration (~1.5x faster)</a:t>
            </a:r>
            <a:endParaRPr b="1" sz="1200">
              <a:solidFill>
                <a:srgbClr val="0B5394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B5394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200"/>
              <a:buChar char="●"/>
            </a:pPr>
            <a:r>
              <a:rPr b="1" lang="en" sz="1200">
                <a:solidFill>
                  <a:srgbClr val="0B5394"/>
                </a:solidFill>
              </a:rPr>
              <a:t>Exploring SVD-based dimensionality reduction and truncated matrix approximations to balance speed and accuracy</a:t>
            </a:r>
            <a:endParaRPr b="1" sz="1200">
              <a:solidFill>
                <a:srgbClr val="0B5394"/>
              </a:solidFill>
            </a:endParaRPr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4725" y="1184150"/>
            <a:ext cx="2859195" cy="3654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2"/>
          <p:cNvPicPr preferRelativeResize="0"/>
          <p:nvPr/>
        </p:nvPicPr>
        <p:blipFill rotWithShape="1">
          <a:blip r:embed="rId4">
            <a:alphaModFix/>
          </a:blip>
          <a:srcRect b="0" l="-4078" r="48516" t="0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2"/>
          <p:cNvSpPr txBox="1"/>
          <p:nvPr/>
        </p:nvSpPr>
        <p:spPr>
          <a:xfrm>
            <a:off x="3801000" y="4798250"/>
            <a:ext cx="1588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B5394"/>
                </a:solidFill>
              </a:rPr>
              <a:t>Bucharest, Apr 16</a:t>
            </a:r>
            <a:r>
              <a:rPr baseline="30000" lang="en" sz="900">
                <a:solidFill>
                  <a:srgbClr val="0B5394"/>
                </a:solidFill>
              </a:rPr>
              <a:t>th</a:t>
            </a:r>
            <a:r>
              <a:rPr lang="en" sz="900">
                <a:solidFill>
                  <a:srgbClr val="0B5394"/>
                </a:solidFill>
              </a:rPr>
              <a:t> 2025</a:t>
            </a:r>
            <a:endParaRPr sz="900">
              <a:solidFill>
                <a:srgbClr val="0B5394"/>
              </a:solidFill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191500" y="750050"/>
            <a:ext cx="87615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B5394"/>
                </a:solidFill>
              </a:rPr>
              <a:t>Development and implementation (2) – Patch creation and code optimization</a:t>
            </a:r>
            <a:endParaRPr b="1" sz="1700">
              <a:solidFill>
                <a:srgbClr val="0B5394"/>
              </a:solidFill>
            </a:endParaRPr>
          </a:p>
        </p:txBody>
      </p:sp>
      <p:pic>
        <p:nvPicPr>
          <p:cNvPr id="151" name="Google Shape;151;p22" title="RCZ patch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0425" y="1749000"/>
            <a:ext cx="3282695" cy="2039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2" title="de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16371" y="1750700"/>
            <a:ext cx="3282404" cy="203572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 txBox="1"/>
          <p:nvPr/>
        </p:nvSpPr>
        <p:spPr>
          <a:xfrm>
            <a:off x="1286925" y="4055900"/>
            <a:ext cx="21297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B5394"/>
                </a:solidFill>
              </a:rPr>
              <a:t>Radar – RZC patches</a:t>
            </a:r>
            <a:endParaRPr b="1" sz="1500">
              <a:solidFill>
                <a:srgbClr val="0B5394"/>
              </a:solidFill>
            </a:endParaRPr>
          </a:p>
        </p:txBody>
      </p:sp>
      <p:sp>
        <p:nvSpPr>
          <p:cNvPr id="154" name="Google Shape;154;p22"/>
          <p:cNvSpPr txBox="1"/>
          <p:nvPr/>
        </p:nvSpPr>
        <p:spPr>
          <a:xfrm>
            <a:off x="5672850" y="4055900"/>
            <a:ext cx="16665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B5394"/>
                </a:solidFill>
              </a:rPr>
              <a:t>DEM patches</a:t>
            </a:r>
            <a:endParaRPr b="1" sz="1500">
              <a:solidFill>
                <a:srgbClr val="0B5394"/>
              </a:solidFill>
            </a:endParaRPr>
          </a:p>
        </p:txBody>
      </p:sp>
      <p:sp>
        <p:nvSpPr>
          <p:cNvPr id="155" name="Google Shape;155;p22"/>
          <p:cNvSpPr txBox="1"/>
          <p:nvPr/>
        </p:nvSpPr>
        <p:spPr>
          <a:xfrm>
            <a:off x="191488" y="1184150"/>
            <a:ext cx="33801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B5394"/>
                </a:solidFill>
              </a:rPr>
              <a:t>Patches examples</a:t>
            </a:r>
            <a:endParaRPr b="1" sz="15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3"/>
          <p:cNvPicPr preferRelativeResize="0"/>
          <p:nvPr/>
        </p:nvPicPr>
        <p:blipFill rotWithShape="1">
          <a:blip r:embed="rId4">
            <a:alphaModFix/>
          </a:blip>
          <a:srcRect b="0" l="-4078" r="48516" t="0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3"/>
          <p:cNvSpPr txBox="1"/>
          <p:nvPr/>
        </p:nvSpPr>
        <p:spPr>
          <a:xfrm>
            <a:off x="3801000" y="4798250"/>
            <a:ext cx="1588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B5394"/>
                </a:solidFill>
              </a:rPr>
              <a:t>Bucharest, Apr 16</a:t>
            </a:r>
            <a:r>
              <a:rPr baseline="30000" lang="en" sz="900">
                <a:solidFill>
                  <a:srgbClr val="0B5394"/>
                </a:solidFill>
              </a:rPr>
              <a:t>th</a:t>
            </a:r>
            <a:r>
              <a:rPr lang="en" sz="900">
                <a:solidFill>
                  <a:srgbClr val="0B5394"/>
                </a:solidFill>
              </a:rPr>
              <a:t> 2025</a:t>
            </a:r>
            <a:endParaRPr sz="900">
              <a:solidFill>
                <a:srgbClr val="0B5394"/>
              </a:solidFill>
            </a:endParaRPr>
          </a:p>
        </p:txBody>
      </p:sp>
      <p:sp>
        <p:nvSpPr>
          <p:cNvPr id="164" name="Google Shape;164;p23"/>
          <p:cNvSpPr txBox="1"/>
          <p:nvPr/>
        </p:nvSpPr>
        <p:spPr>
          <a:xfrm>
            <a:off x="191500" y="750050"/>
            <a:ext cx="40992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B5394"/>
                </a:solidFill>
              </a:rPr>
              <a:t>Challenges and risks</a:t>
            </a:r>
            <a:endParaRPr b="1" sz="1700">
              <a:solidFill>
                <a:srgbClr val="0B5394"/>
              </a:solidFill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191500" y="1331400"/>
            <a:ext cx="8761500" cy="3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Converting diverse data formats to standardized NetCDF with consistent spatial resolution across weather products presented a significant challenge</a:t>
            </a:r>
            <a:endParaRPr b="1" sz="1500">
              <a:solidFill>
                <a:srgbClr val="0B5394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Planned MSG to MTG transition will require processing pipeline modifications</a:t>
            </a:r>
            <a:endParaRPr b="1" sz="1500">
              <a:solidFill>
                <a:srgbClr val="0B5394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GPU acceleration improves processing speed but creates synchronization issues when implementing parallel CPU processing</a:t>
            </a:r>
            <a:endParaRPr b="1" sz="1500">
              <a:solidFill>
                <a:srgbClr val="0B5394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Numerical methods (SVD dimensionality reduction, truncated matrix approximations) require balance between computational efficiency and forecast accuracy</a:t>
            </a:r>
            <a:endParaRPr b="1" sz="15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4"/>
          <p:cNvPicPr preferRelativeResize="0"/>
          <p:nvPr/>
        </p:nvPicPr>
        <p:blipFill rotWithShape="1">
          <a:blip r:embed="rId4">
            <a:alphaModFix/>
          </a:blip>
          <a:srcRect b="0" l="-4078" r="48516" t="0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4"/>
          <p:cNvSpPr txBox="1"/>
          <p:nvPr/>
        </p:nvSpPr>
        <p:spPr>
          <a:xfrm>
            <a:off x="3801000" y="4798250"/>
            <a:ext cx="1588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B5394"/>
                </a:solidFill>
              </a:rPr>
              <a:t>Bucharest, Apr 16</a:t>
            </a:r>
            <a:r>
              <a:rPr baseline="30000" lang="en" sz="900">
                <a:solidFill>
                  <a:srgbClr val="0B5394"/>
                </a:solidFill>
              </a:rPr>
              <a:t>th</a:t>
            </a:r>
            <a:r>
              <a:rPr lang="en" sz="900">
                <a:solidFill>
                  <a:srgbClr val="0B5394"/>
                </a:solidFill>
              </a:rPr>
              <a:t> 2025</a:t>
            </a:r>
            <a:endParaRPr sz="900">
              <a:solidFill>
                <a:srgbClr val="0B5394"/>
              </a:solidFill>
            </a:endParaRPr>
          </a:p>
        </p:txBody>
      </p:sp>
      <p:sp>
        <p:nvSpPr>
          <p:cNvPr id="174" name="Google Shape;174;p24"/>
          <p:cNvSpPr txBox="1"/>
          <p:nvPr/>
        </p:nvSpPr>
        <p:spPr>
          <a:xfrm>
            <a:off x="191500" y="750050"/>
            <a:ext cx="40992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B5394"/>
                </a:solidFill>
              </a:rPr>
              <a:t>Next steps</a:t>
            </a:r>
            <a:endParaRPr b="1" sz="1700">
              <a:solidFill>
                <a:srgbClr val="0B5394"/>
              </a:solidFill>
            </a:endParaRPr>
          </a:p>
        </p:txBody>
      </p:sp>
      <p:sp>
        <p:nvSpPr>
          <p:cNvPr id="175" name="Google Shape;175;p24"/>
          <p:cNvSpPr txBox="1"/>
          <p:nvPr/>
        </p:nvSpPr>
        <p:spPr>
          <a:xfrm>
            <a:off x="191500" y="1331400"/>
            <a:ext cx="8761500" cy="3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Process and integrate remaining radar and NWP products into ML model to obtain first training results</a:t>
            </a:r>
            <a:endParaRPr b="1" sz="1500">
              <a:solidFill>
                <a:srgbClr val="0B5394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Fine-tune COALITION-4 to adapt the model to NMA data and Romanian weather patterns</a:t>
            </a:r>
            <a:endParaRPr b="1" sz="1500">
              <a:solidFill>
                <a:srgbClr val="0B5394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Analyze product impact to potentially exclude less valuable inputs if performance remains within thresholds</a:t>
            </a:r>
            <a:endParaRPr b="1" sz="1500">
              <a:solidFill>
                <a:srgbClr val="0B5394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Replace MSG data with newer MTG satellite data in the preprocessing pipeline</a:t>
            </a:r>
            <a:endParaRPr b="1" sz="1500">
              <a:solidFill>
                <a:srgbClr val="0B5394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Develop physics-based model prototype to complement existing model in the prediction pipeline</a:t>
            </a:r>
            <a:endParaRPr b="1" sz="1500">
              <a:solidFill>
                <a:srgbClr val="0B5394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b="1" lang="en" sz="1500">
                <a:solidFill>
                  <a:srgbClr val="0B5394"/>
                </a:solidFill>
              </a:rPr>
              <a:t>Evaluate data processing for optimization needs (parallel processing, GPU operations, numerical approximations)</a:t>
            </a:r>
            <a:endParaRPr b="1" sz="15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