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8" d="100"/>
          <a:sy n="218" d="100"/>
        </p:scale>
        <p:origin x="16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31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117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4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6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807000" y="1928125"/>
            <a:ext cx="7500300" cy="16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Romanian NMA Training Placement Scheme </a:t>
            </a:r>
            <a:endParaRPr sz="2100" b="1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dirty="0">
                <a:solidFill>
                  <a:srgbClr val="0B5394"/>
                </a:solidFill>
              </a:rPr>
              <a:t>Third</a:t>
            </a:r>
            <a:r>
              <a:rPr lang="en-US" sz="2100" b="1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semestrial scientific report, </a:t>
            </a:r>
            <a:r>
              <a:rPr lang="en-US" sz="2100" b="1" dirty="0">
                <a:solidFill>
                  <a:srgbClr val="0B5394"/>
                </a:solidFill>
              </a:rPr>
              <a:t>March</a:t>
            </a:r>
            <a:r>
              <a:rPr lang="en-US" sz="2100" b="1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2100" b="1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1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2614500" y="2729925"/>
            <a:ext cx="39150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 err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Claudiu</a:t>
            </a:r>
            <a:r>
              <a:rPr lang="en-US" sz="17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Adam</a:t>
            </a:r>
            <a:endParaRPr sz="17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1097280" y="45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48640" y="777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1284971"/>
            <a:ext cx="6858000" cy="1623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gathering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Qualitative and quantitative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Extra activities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8640" y="1444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43000" y="14264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48640" y="2112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143000" y="20939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48640" y="27797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143000" y="27614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48640" y="3447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14300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143000" y="4096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2" name="Google Shape;58;p1">
            <a:extLst>
              <a:ext uri="{FF2B5EF4-FFF2-40B4-BE49-F238E27FC236}">
                <a16:creationId xmlns:a16="http://schemas.microsoft.com/office/drawing/2014/main" id="{36E8AC6F-4226-06EB-1D49-8B87FD769558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57;p1">
            <a:extLst>
              <a:ext uri="{FF2B5EF4-FFF2-40B4-BE49-F238E27FC236}">
                <a16:creationId xmlns:a16="http://schemas.microsoft.com/office/drawing/2014/main" id="{A28158B9-CE58-C041-F344-0916A369ECFC}"/>
              </a:ext>
            </a:extLst>
          </p:cNvPr>
          <p:cNvSpPr txBox="1"/>
          <p:nvPr/>
        </p:nvSpPr>
        <p:spPr>
          <a:xfrm>
            <a:off x="484554" y="662701"/>
            <a:ext cx="3418491" cy="623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2000" b="1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000" b="1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54;p1">
            <a:extLst>
              <a:ext uri="{FF2B5EF4-FFF2-40B4-BE49-F238E27FC236}">
                <a16:creationId xmlns:a16="http://schemas.microsoft.com/office/drawing/2014/main" id="{CA3EC317-47E3-A091-9B46-EB37A9E58B59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55;p1">
            <a:extLst>
              <a:ext uri="{FF2B5EF4-FFF2-40B4-BE49-F238E27FC236}">
                <a16:creationId xmlns:a16="http://schemas.microsoft.com/office/drawing/2014/main" id="{403EFCB0-DC36-A74F-5BD2-3086F4F8DB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56;p1">
            <a:extLst>
              <a:ext uri="{FF2B5EF4-FFF2-40B4-BE49-F238E27FC236}">
                <a16:creationId xmlns:a16="http://schemas.microsoft.com/office/drawing/2014/main" id="{F06B031E-1655-75B8-0F9A-108167FC060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98383" y="538775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 — satellite data acquisition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16431" y="989254"/>
            <a:ext cx="842691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disk at 10-min cadence, 5 channels. Romania intersects only chunks 34–38 out of 41 total — 92% download reduction.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area lat/lon bounds are projected into the geostationary scanning frame to compute row indices. Only the chunk subset covering Romania is downloaded, with one additional chunk N/S as a safety buffer.</a:t>
            </a:r>
          </a:p>
        </p:txBody>
      </p:sp>
      <p:pic>
        <p:nvPicPr>
          <p:cNvPr id="9" name="Image 2" descr="/home/claude/img/study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113" y="2181703"/>
            <a:ext cx="2218623" cy="22186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46244" y="4464372"/>
            <a:ext cx="227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Study area (yellow box over Romania)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3" descr="/home/claude/img/img_mtg_fci_scanning_fdss_394100d20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698" y="2181702"/>
            <a:ext cx="2470791" cy="22186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08678" y="4462099"/>
            <a:ext cx="176608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MTG FCI full disk scanning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58;p1">
            <a:extLst>
              <a:ext uri="{FF2B5EF4-FFF2-40B4-BE49-F238E27FC236}">
                <a16:creationId xmlns:a16="http://schemas.microsoft.com/office/drawing/2014/main" id="{714976B9-15BD-6F21-430B-97E1DC638599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54;p1">
            <a:extLst>
              <a:ext uri="{FF2B5EF4-FFF2-40B4-BE49-F238E27FC236}">
                <a16:creationId xmlns:a16="http://schemas.microsoft.com/office/drawing/2014/main" id="{0EDF26DE-5D37-B27B-1875-8887F2B8530F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55;p1">
            <a:extLst>
              <a:ext uri="{FF2B5EF4-FFF2-40B4-BE49-F238E27FC236}">
                <a16:creationId xmlns:a16="http://schemas.microsoft.com/office/drawing/2014/main" id="{40933FCC-5E8B-0A44-2B93-201BF4E8E58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56;p1">
            <a:extLst>
              <a:ext uri="{FF2B5EF4-FFF2-40B4-BE49-F238E27FC236}">
                <a16:creationId xmlns:a16="http://schemas.microsoft.com/office/drawing/2014/main" id="{E01A5A72-8A6A-1DF8-ACAA-79954425A11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57200" y="68339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gathering — data sources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1157438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8A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“What multi-source observational streams feed the nowcasting pipeline?”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training datasets generated – one using radar, LINET, MSG SEVERI, NWCSAF and one using radar, LINET, MTG FCI, NWCSAF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Romanian national radar mosaic products reprojected to EPSG:31700 Stereo70 at 1 km resolution: RZC (rain rate), CZC (composite reflectivity), EZC-20 (echo top at 20 </a:t>
            </a:r>
            <a:r>
              <a:rPr lang="en-US" sz="1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dBZ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LZC (VIL), and CPCH (precipitation accumulation).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LINET derived products at 15-min resolution: stroke density, peak current, and binary occurrence maps over Romania.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top height (ctth_alti), cloud top temperature (ctth_tempe), cloud microphysics phase (cmic_phase), and cloud optical thickness (cmic_cot) derived from MSG.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MSG SEVIRI (5 channels, 3 km, 15-min cadence): VIS006 (0.6 µm, cloud optical thickness proxy), IR_039 (3.9 µm, cloud phase discrimination), IR_108 (10.8 µm, cloud top temperature), WV_062 (6.2 µm, upper-tropospheric moisture), WV_073 (7.3 µm, mid-tropospheric moisture).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 FCI (5 equivalent channels, 1–2 km, 10-min cadence): vis_06, ir_38, ir_105, wv_63, wv_73 — spectral equivalents of the MSG channels above. Higher spatial resolution and 10-min native cadence, synthesized to 15-min via optical flow interpolation. </a:t>
            </a:r>
          </a:p>
        </p:txBody>
      </p:sp>
      <p:sp>
        <p:nvSpPr>
          <p:cNvPr id="9" name="Google Shape;58;p1">
            <a:extLst>
              <a:ext uri="{FF2B5EF4-FFF2-40B4-BE49-F238E27FC236}">
                <a16:creationId xmlns:a16="http://schemas.microsoft.com/office/drawing/2014/main" id="{9807E0D6-3D59-A076-2E4B-0C981AD1535D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4;p1">
            <a:extLst>
              <a:ext uri="{FF2B5EF4-FFF2-40B4-BE49-F238E27FC236}">
                <a16:creationId xmlns:a16="http://schemas.microsoft.com/office/drawing/2014/main" id="{BC3A6B06-8117-780F-4833-451A782C2CF2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55;p1">
            <a:extLst>
              <a:ext uri="{FF2B5EF4-FFF2-40B4-BE49-F238E27FC236}">
                <a16:creationId xmlns:a16="http://schemas.microsoft.com/office/drawing/2014/main" id="{FC707A50-9E92-9A18-70F0-92EEAAE12C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56;p1">
            <a:extLst>
              <a:ext uri="{FF2B5EF4-FFF2-40B4-BE49-F238E27FC236}">
                <a16:creationId xmlns:a16="http://schemas.microsoft.com/office/drawing/2014/main" id="{83BFD9C9-63B6-CABC-4F19-B48EA6297CB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365760" y="6172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reprocessing — temporal alignment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65760" y="1027497"/>
            <a:ext cx="520132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A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“How do we harmonize the 10-min MTG FCI cadence to the 15-min COALITION grid?”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products at :00 and :30 require no interpolation. Synthesized timestamps at :15 and :45 are generated via Lucas-Kanade optical flow or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Farnebäck’s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applied to (:10, :20) and (:40, :50) pairs using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pysteps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OpenCV, respectively.</a:t>
            </a: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Lucas-Kanade over alternatives?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 assumes locally constant motion, making it efficient on the sparse gradient structure of IR channels. Dense methods would estimate motion everywhere including noise-dominated clear-sky regions, introducing artifacts. Radar fields, however, contain dense, spatially continuous reflectivity gradients with sharp precipitation boundaries —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Farnebäck's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dense polynomial expansion captures the full motion field across these structures, preserving the fine-scale displacement of convective cells that LK's sparse feature tracking would miss.</a:t>
            </a:r>
          </a:p>
        </p:txBody>
      </p:sp>
      <p:pic>
        <p:nvPicPr>
          <p:cNvPr id="9" name="Image 2" descr="/home/claude/img/interpolation_strate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021" y="1095688"/>
            <a:ext cx="3474720" cy="10972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1021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Interpolation strategy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58;p1">
            <a:extLst>
              <a:ext uri="{FF2B5EF4-FFF2-40B4-BE49-F238E27FC236}">
                <a16:creationId xmlns:a16="http://schemas.microsoft.com/office/drawing/2014/main" id="{B31E467B-6B64-5AB3-FCA6-34AD5A2BCBF9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54;p1">
            <a:extLst>
              <a:ext uri="{FF2B5EF4-FFF2-40B4-BE49-F238E27FC236}">
                <a16:creationId xmlns:a16="http://schemas.microsoft.com/office/drawing/2014/main" id="{EB297173-42E3-4B3D-C203-1AB056D23898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55;p1">
            <a:extLst>
              <a:ext uri="{FF2B5EF4-FFF2-40B4-BE49-F238E27FC236}">
                <a16:creationId xmlns:a16="http://schemas.microsoft.com/office/drawing/2014/main" id="{40EED802-44C0-8B08-2B11-A50AA4B0B2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56;p1">
            <a:extLst>
              <a:ext uri="{FF2B5EF4-FFF2-40B4-BE49-F238E27FC236}">
                <a16:creationId xmlns:a16="http://schemas.microsoft.com/office/drawing/2014/main" id="{48A2E610-571B-81E7-1ACE-010A956699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57200" y="43429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preprocessing — labels &amp; loss functions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9601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A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“How are prediction targets structured for the radar and lightning branches?”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RZC (mm/h) is discretized into 5 classes via fixed thresholds: R&lt;10, 10≤20, 20≤30, 30≤40, R≥40 mm/h. Each pixel becomes a one-hot vector. This classification formulation aligns with the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SepConv-ens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approach (Czibula et al. 2024, KES2024) which demonstrated effective radar nowcasting as classification on Romanian data.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Loss -&gt; Categorical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Crossentropy</a:t>
            </a: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Lightning labels are binary (1 = lightning present, 0 = absent).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Loss -&gt; Weighted Focal Loss (γ=2), where γ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downweights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confident clear-sky 	predictions, focusing gradient updates on ambiguous storm-boundary pixels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 each day, samples are split into contiguous temporal blocks following Czibula et al. (2024) and the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SepConv-ens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work: the first 10% of each 6-hour period goes to testing, the next 10% to validation, and the remaining 80% to training. This preserves temporal ordering within each block and prevents data leakage from correlated consecutive timesteps.</a:t>
            </a:r>
          </a:p>
        </p:txBody>
      </p:sp>
      <p:sp>
        <p:nvSpPr>
          <p:cNvPr id="9" name="Google Shape;58;p1">
            <a:extLst>
              <a:ext uri="{FF2B5EF4-FFF2-40B4-BE49-F238E27FC236}">
                <a16:creationId xmlns:a16="http://schemas.microsoft.com/office/drawing/2014/main" id="{BDB68776-EEC6-C424-576E-0B65CB4EC2DD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4;p1">
            <a:extLst>
              <a:ext uri="{FF2B5EF4-FFF2-40B4-BE49-F238E27FC236}">
                <a16:creationId xmlns:a16="http://schemas.microsoft.com/office/drawing/2014/main" id="{CFC23A86-79B1-79AA-6756-F16D4866CC10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55;p1">
            <a:extLst>
              <a:ext uri="{FF2B5EF4-FFF2-40B4-BE49-F238E27FC236}">
                <a16:creationId xmlns:a16="http://schemas.microsoft.com/office/drawing/2014/main" id="{16C28E03-F670-AD58-A592-C6073574CA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56;p1">
            <a:extLst>
              <a:ext uri="{FF2B5EF4-FFF2-40B4-BE49-F238E27FC236}">
                <a16:creationId xmlns:a16="http://schemas.microsoft.com/office/drawing/2014/main" id="{898873F5-3775-C07A-04EC-570DE5C322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365760" y="409229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statistics — lightning activity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65760" y="78813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A8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“When and how does lightning occur across the study period?”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/home/claude/img/lightning_activity_per_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27600"/>
            <a:ext cx="5029200" cy="2011680"/>
          </a:xfrm>
          <a:prstGeom prst="rect">
            <a:avLst/>
          </a:prstGeom>
        </p:spPr>
      </p:pic>
      <p:pic>
        <p:nvPicPr>
          <p:cNvPr id="10" name="Image 3" descr="/home/claude/img/lightning_activity_per_timest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185000"/>
            <a:ext cx="5029200" cy="1600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49240" y="1127600"/>
            <a:ext cx="3520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observations (15–31 May 2025):</a:t>
            </a: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LINET products: density, current, occurrence across 17 days.</a:t>
            </a: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 activity on 23 May with &gt;80 active timesteps out of 96 for all three products.</a:t>
            </a: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diurnal signal: activity increases from 10 UTC, peaks between 12–18 UTC, then decays.</a:t>
            </a: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Occurrence product shows highest counts, followed by current and density.</a:t>
            </a: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Low-activity days (16 May, 20 May, 31 May).</a:t>
            </a:r>
          </a:p>
        </p:txBody>
      </p:sp>
      <p:sp>
        <p:nvSpPr>
          <p:cNvPr id="12" name="Google Shape;58;p1">
            <a:extLst>
              <a:ext uri="{FF2B5EF4-FFF2-40B4-BE49-F238E27FC236}">
                <a16:creationId xmlns:a16="http://schemas.microsoft.com/office/drawing/2014/main" id="{1DC00CC6-2781-D191-B3CE-CDF20B5A2B65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54;p1">
            <a:extLst>
              <a:ext uri="{FF2B5EF4-FFF2-40B4-BE49-F238E27FC236}">
                <a16:creationId xmlns:a16="http://schemas.microsoft.com/office/drawing/2014/main" id="{BD905516-5C47-8B70-56B7-21374509D639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55;p1">
            <a:extLst>
              <a:ext uri="{FF2B5EF4-FFF2-40B4-BE49-F238E27FC236}">
                <a16:creationId xmlns:a16="http://schemas.microsoft.com/office/drawing/2014/main" id="{389FEE13-5B60-02EB-F16B-DAC943A10E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56;p1">
            <a:extLst>
              <a:ext uri="{FF2B5EF4-FFF2-40B4-BE49-F238E27FC236}">
                <a16:creationId xmlns:a16="http://schemas.microsoft.com/office/drawing/2014/main" id="{80BE1516-8601-ADC8-947C-CD04065A750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365760" y="421105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statistics — convective activity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65760" y="74114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A8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“What is the spatio-temporal structure of convective events?”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/home/claude/img/1_diurnal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4114800" cy="1874520"/>
          </a:xfrm>
          <a:prstGeom prst="rect">
            <a:avLst/>
          </a:prstGeom>
        </p:spPr>
      </p:pic>
      <p:pic>
        <p:nvPicPr>
          <p:cNvPr id="10" name="Image 3" descr="/home/claude/img/2_spatial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005840"/>
            <a:ext cx="4480560" cy="1874520"/>
          </a:xfrm>
          <a:prstGeom prst="rect">
            <a:avLst/>
          </a:prstGeom>
        </p:spPr>
      </p:pic>
      <p:pic>
        <p:nvPicPr>
          <p:cNvPr id="11" name="Image 4" descr="/home/claude/img/3_daily_tim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104" y="2892392"/>
            <a:ext cx="5187151" cy="1908208"/>
          </a:xfrm>
          <a:prstGeom prst="rect">
            <a:avLst/>
          </a:prstGeom>
        </p:spPr>
      </p:pic>
      <p:sp>
        <p:nvSpPr>
          <p:cNvPr id="12" name="Google Shape;58;p1">
            <a:extLst>
              <a:ext uri="{FF2B5EF4-FFF2-40B4-BE49-F238E27FC236}">
                <a16:creationId xmlns:a16="http://schemas.microsoft.com/office/drawing/2014/main" id="{AB32010E-7E63-6E4B-61B9-2C1C357FD8D0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54;p1">
            <a:extLst>
              <a:ext uri="{FF2B5EF4-FFF2-40B4-BE49-F238E27FC236}">
                <a16:creationId xmlns:a16="http://schemas.microsoft.com/office/drawing/2014/main" id="{2975A835-E374-8107-5DDC-0BE1BF3A0CCD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55;p1">
            <a:extLst>
              <a:ext uri="{FF2B5EF4-FFF2-40B4-BE49-F238E27FC236}">
                <a16:creationId xmlns:a16="http://schemas.microsoft.com/office/drawing/2014/main" id="{3BFD6ED7-8C3B-5A14-D9C0-00A22A4554B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56;p1">
            <a:extLst>
              <a:ext uri="{FF2B5EF4-FFF2-40B4-BE49-F238E27FC236}">
                <a16:creationId xmlns:a16="http://schemas.microsoft.com/office/drawing/2014/main" id="{D869B6AA-8A82-76C8-D389-6BE2E191469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74320" y="502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statistics — patch extraction and distribution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6576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A8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“How many concurrent convective patches exist and how are they distributed?”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/home/claude/img/4_activ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16152"/>
            <a:ext cx="3840480" cy="2743200"/>
          </a:xfrm>
          <a:prstGeom prst="rect">
            <a:avLst/>
          </a:prstGeom>
        </p:spPr>
      </p:pic>
      <p:pic>
        <p:nvPicPr>
          <p:cNvPr id="10" name="Image 3" descr="/home/claude/img/ezgif-8763fab8661077b4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16152"/>
            <a:ext cx="4663440" cy="2286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97680" y="3547872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RZC regridded field with DBSCAN binary mask for patch activation</a:t>
            </a:r>
          </a:p>
          <a:p>
            <a:pPr marL="0" indent="0" algn="ctr">
              <a:buNone/>
            </a:pPr>
            <a:r>
              <a:rPr lang="en-US" sz="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(stream line the extraction of neighboring patches)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74320" y="405079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 clustering applied on rain rate identifies active regions per timestep.</a:t>
            </a:r>
          </a:p>
        </p:txBody>
      </p:sp>
      <p:sp>
        <p:nvSpPr>
          <p:cNvPr id="13" name="Google Shape;58;p1">
            <a:extLst>
              <a:ext uri="{FF2B5EF4-FFF2-40B4-BE49-F238E27FC236}">
                <a16:creationId xmlns:a16="http://schemas.microsoft.com/office/drawing/2014/main" id="{770CC525-E481-A5EB-17E4-358CC2307CBA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54;p1">
            <a:extLst>
              <a:ext uri="{FF2B5EF4-FFF2-40B4-BE49-F238E27FC236}">
                <a16:creationId xmlns:a16="http://schemas.microsoft.com/office/drawing/2014/main" id="{3DFCAEFE-28B2-A476-77CE-76C9C7629A76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55;p1">
            <a:extLst>
              <a:ext uri="{FF2B5EF4-FFF2-40B4-BE49-F238E27FC236}">
                <a16:creationId xmlns:a16="http://schemas.microsoft.com/office/drawing/2014/main" id="{DBEF8950-87AE-6BD0-4C0A-8995E025665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6;p1">
            <a:extLst>
              <a:ext uri="{FF2B5EF4-FFF2-40B4-BE49-F238E27FC236}">
                <a16:creationId xmlns:a16="http://schemas.microsoft.com/office/drawing/2014/main" id="{157D6267-723B-6270-2CED-3757E803237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332071" y="799859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statistics — dataset split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65760" y="117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A8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“How are training samples distributed across the study period?”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/home/claude/img/5_samples_per_date_train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520792"/>
            <a:ext cx="2926080" cy="2011680"/>
          </a:xfrm>
          <a:prstGeom prst="rect">
            <a:avLst/>
          </a:prstGeom>
        </p:spPr>
      </p:pic>
      <p:pic>
        <p:nvPicPr>
          <p:cNvPr id="10" name="Image 3" descr="/home/claude/img/5_samples_per_date_validation_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520792"/>
            <a:ext cx="2926080" cy="2011680"/>
          </a:xfrm>
          <a:prstGeom prst="rect">
            <a:avLst/>
          </a:prstGeom>
        </p:spPr>
      </p:pic>
      <p:pic>
        <p:nvPicPr>
          <p:cNvPr id="11" name="Image 4" descr="/home/claude/img/5_samples_per_date_test_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520792"/>
            <a:ext cx="2926080" cy="2011680"/>
          </a:xfrm>
          <a:prstGeom prst="rect">
            <a:avLst/>
          </a:prstGeom>
        </p:spPr>
      </p:pic>
      <p:sp>
        <p:nvSpPr>
          <p:cNvPr id="13" name="Google Shape;58;p1">
            <a:extLst>
              <a:ext uri="{FF2B5EF4-FFF2-40B4-BE49-F238E27FC236}">
                <a16:creationId xmlns:a16="http://schemas.microsoft.com/office/drawing/2014/main" id="{E99D3646-E451-1B1D-BF55-0A6532F13812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54;p1">
            <a:extLst>
              <a:ext uri="{FF2B5EF4-FFF2-40B4-BE49-F238E27FC236}">
                <a16:creationId xmlns:a16="http://schemas.microsoft.com/office/drawing/2014/main" id="{0219DE6E-74EC-5B00-EA8B-E504801ABE17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55;p1">
            <a:extLst>
              <a:ext uri="{FF2B5EF4-FFF2-40B4-BE49-F238E27FC236}">
                <a16:creationId xmlns:a16="http://schemas.microsoft.com/office/drawing/2014/main" id="{6C9ACE1A-C9AA-22E6-1091-5CC8E0846C9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6;p1">
            <a:extLst>
              <a:ext uri="{FF2B5EF4-FFF2-40B4-BE49-F238E27FC236}">
                <a16:creationId xmlns:a16="http://schemas.microsoft.com/office/drawing/2014/main" id="{48E4B8E9-FC8F-949B-8731-C31231C3CE4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322446" y="981295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statistics — patch statistics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65760" y="135619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A8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“What fraction of active patches produce valid training sequences?”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/home/claude/img/6_patch_survival_train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703671"/>
            <a:ext cx="2926080" cy="2103120"/>
          </a:xfrm>
          <a:prstGeom prst="rect">
            <a:avLst/>
          </a:prstGeom>
        </p:spPr>
      </p:pic>
      <p:pic>
        <p:nvPicPr>
          <p:cNvPr id="10" name="Image 3" descr="/home/claude/img/6_patch_survival_validation_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703671"/>
            <a:ext cx="2926080" cy="2103120"/>
          </a:xfrm>
          <a:prstGeom prst="rect">
            <a:avLst/>
          </a:prstGeom>
        </p:spPr>
      </p:pic>
      <p:pic>
        <p:nvPicPr>
          <p:cNvPr id="11" name="Image 4" descr="/home/claude/img/6_patch_survival_test_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703671"/>
            <a:ext cx="2926080" cy="2103120"/>
          </a:xfrm>
          <a:prstGeom prst="rect">
            <a:avLst/>
          </a:prstGeom>
        </p:spPr>
      </p:pic>
      <p:sp>
        <p:nvSpPr>
          <p:cNvPr id="13" name="Google Shape;58;p1">
            <a:extLst>
              <a:ext uri="{FF2B5EF4-FFF2-40B4-BE49-F238E27FC236}">
                <a16:creationId xmlns:a16="http://schemas.microsoft.com/office/drawing/2014/main" id="{5516673B-9C51-F6EA-4E6D-058513556C29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54;p1">
            <a:extLst>
              <a:ext uri="{FF2B5EF4-FFF2-40B4-BE49-F238E27FC236}">
                <a16:creationId xmlns:a16="http://schemas.microsoft.com/office/drawing/2014/main" id="{579EC5B7-DD84-45C0-4D35-EE4CDDE22B9C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55;p1">
            <a:extLst>
              <a:ext uri="{FF2B5EF4-FFF2-40B4-BE49-F238E27FC236}">
                <a16:creationId xmlns:a16="http://schemas.microsoft.com/office/drawing/2014/main" id="{AACBEDD7-D555-98A0-FBEB-462B0E87D24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6;p1">
            <a:extLst>
              <a:ext uri="{FF2B5EF4-FFF2-40B4-BE49-F238E27FC236}">
                <a16:creationId xmlns:a16="http://schemas.microsoft.com/office/drawing/2014/main" id="{D5149A57-A243-3E5A-EC04-542F0845BFD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70469" y="817770"/>
            <a:ext cx="6419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Qualitative and quantitative results — training curves (MSG SEVIRI)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32072" y="125994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MSG Lightning (Weighted Focal Loss)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/home/claude/img/msg_lightning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12" y="1561699"/>
            <a:ext cx="4131644" cy="30175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21192" y="125994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MSG Radar (Categorical Crossentropy)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3" descr="/home/claude/img/msg_radar_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912" y="1494323"/>
            <a:ext cx="4160520" cy="2196965"/>
          </a:xfrm>
          <a:prstGeom prst="rect">
            <a:avLst/>
          </a:prstGeom>
        </p:spPr>
      </p:pic>
      <p:sp>
        <p:nvSpPr>
          <p:cNvPr id="13" name="Google Shape;58;p1">
            <a:extLst>
              <a:ext uri="{FF2B5EF4-FFF2-40B4-BE49-F238E27FC236}">
                <a16:creationId xmlns:a16="http://schemas.microsoft.com/office/drawing/2014/main" id="{6DEBDC94-3F07-469F-88F7-6ACB3ED97E41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54;p1">
            <a:extLst>
              <a:ext uri="{FF2B5EF4-FFF2-40B4-BE49-F238E27FC236}">
                <a16:creationId xmlns:a16="http://schemas.microsoft.com/office/drawing/2014/main" id="{BA3EE6FB-54A1-AA02-2E3F-2397CD259657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55;p1">
            <a:extLst>
              <a:ext uri="{FF2B5EF4-FFF2-40B4-BE49-F238E27FC236}">
                <a16:creationId xmlns:a16="http://schemas.microsoft.com/office/drawing/2014/main" id="{AB138A6A-81C4-64BE-8E15-C6BA3B96438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6;p1">
            <a:extLst>
              <a:ext uri="{FF2B5EF4-FFF2-40B4-BE49-F238E27FC236}">
                <a16:creationId xmlns:a16="http://schemas.microsoft.com/office/drawing/2014/main" id="{19ABF14B-9139-7685-A25A-4B8A850D1E0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192504" y="864590"/>
            <a:ext cx="61457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Qualitative and quantitative results — training curves (MTG FCI)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274320" y="128882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MTG Lightning (Weighted Focal Loss)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/home/claude/img/mtg_lightning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590575"/>
            <a:ext cx="4165333" cy="30175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3440" y="128882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MTG Radar (Categorical Crossentropy)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3" descr="/home/claude/img/mtg_radar_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507" y="1491883"/>
            <a:ext cx="4165333" cy="2185897"/>
          </a:xfrm>
          <a:prstGeom prst="rect">
            <a:avLst/>
          </a:prstGeom>
        </p:spPr>
      </p:pic>
      <p:sp>
        <p:nvSpPr>
          <p:cNvPr id="13" name="Google Shape;58;p1">
            <a:extLst>
              <a:ext uri="{FF2B5EF4-FFF2-40B4-BE49-F238E27FC236}">
                <a16:creationId xmlns:a16="http://schemas.microsoft.com/office/drawing/2014/main" id="{A129C2B9-B9F5-A8D8-7E69-2212783C115F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54;p1">
            <a:extLst>
              <a:ext uri="{FF2B5EF4-FFF2-40B4-BE49-F238E27FC236}">
                <a16:creationId xmlns:a16="http://schemas.microsoft.com/office/drawing/2014/main" id="{C8BDA09E-04DB-6415-89C2-ADC90E6F6BFD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55;p1">
            <a:extLst>
              <a:ext uri="{FF2B5EF4-FFF2-40B4-BE49-F238E27FC236}">
                <a16:creationId xmlns:a16="http://schemas.microsoft.com/office/drawing/2014/main" id="{A91D1BA6-0723-0B5E-D7EB-C24AAE61C11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6;p1">
            <a:extLst>
              <a:ext uri="{FF2B5EF4-FFF2-40B4-BE49-F238E27FC236}">
                <a16:creationId xmlns:a16="http://schemas.microsoft.com/office/drawing/2014/main" id="{770E47F7-46B8-D935-68D8-F9FCE2FDAC7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59882" y="571052"/>
            <a:ext cx="8268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Qualitative and quantitative results — Lightning predictions and rain rate prediction using MSG SEVIRI data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9" name="Image 2" descr="/home/claude/img/msg_rada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60120"/>
            <a:ext cx="4434840" cy="3657600"/>
          </a:xfrm>
          <a:prstGeom prst="rect">
            <a:avLst/>
          </a:prstGeom>
        </p:spPr>
      </p:pic>
      <p:pic>
        <p:nvPicPr>
          <p:cNvPr id="11" name="Image 3" descr="/home/claude/img/msg_lightning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60120"/>
            <a:ext cx="4434840" cy="3657600"/>
          </a:xfrm>
          <a:prstGeom prst="rect">
            <a:avLst/>
          </a:prstGeom>
        </p:spPr>
      </p:pic>
      <p:sp>
        <p:nvSpPr>
          <p:cNvPr id="12" name="Google Shape;58;p1">
            <a:extLst>
              <a:ext uri="{FF2B5EF4-FFF2-40B4-BE49-F238E27FC236}">
                <a16:creationId xmlns:a16="http://schemas.microsoft.com/office/drawing/2014/main" id="{B2315B6C-8306-5EF0-2CD5-A3A1825ADBA7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54;p1">
            <a:extLst>
              <a:ext uri="{FF2B5EF4-FFF2-40B4-BE49-F238E27FC236}">
                <a16:creationId xmlns:a16="http://schemas.microsoft.com/office/drawing/2014/main" id="{32FB8801-B973-BA71-01F7-7751EAC3F8D4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55;p1">
            <a:extLst>
              <a:ext uri="{FF2B5EF4-FFF2-40B4-BE49-F238E27FC236}">
                <a16:creationId xmlns:a16="http://schemas.microsoft.com/office/drawing/2014/main" id="{1AA9CA67-1E9D-6291-D41B-BA21139574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56;p1">
            <a:extLst>
              <a:ext uri="{FF2B5EF4-FFF2-40B4-BE49-F238E27FC236}">
                <a16:creationId xmlns:a16="http://schemas.microsoft.com/office/drawing/2014/main" id="{8965473F-7095-252D-EDD2-9F906723A92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197318" y="606392"/>
            <a:ext cx="844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Qualitative and quantitative results — Lightning predictions and rain rate prediction using MTG FCI data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9" name="Image 2" descr="/home/claude/img/mtg_rada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60120"/>
            <a:ext cx="4434840" cy="3657600"/>
          </a:xfrm>
          <a:prstGeom prst="rect">
            <a:avLst/>
          </a:prstGeom>
        </p:spPr>
      </p:pic>
      <p:pic>
        <p:nvPicPr>
          <p:cNvPr id="11" name="Image 3" descr="/home/claude/img/mtg_lightning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60120"/>
            <a:ext cx="4434840" cy="3657600"/>
          </a:xfrm>
          <a:prstGeom prst="rect">
            <a:avLst/>
          </a:prstGeom>
        </p:spPr>
      </p:pic>
      <p:sp>
        <p:nvSpPr>
          <p:cNvPr id="12" name="Google Shape;58;p1">
            <a:extLst>
              <a:ext uri="{FF2B5EF4-FFF2-40B4-BE49-F238E27FC236}">
                <a16:creationId xmlns:a16="http://schemas.microsoft.com/office/drawing/2014/main" id="{7E2F9F6E-275D-4C66-BE38-041AC0EAA58F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54;p1">
            <a:extLst>
              <a:ext uri="{FF2B5EF4-FFF2-40B4-BE49-F238E27FC236}">
                <a16:creationId xmlns:a16="http://schemas.microsoft.com/office/drawing/2014/main" id="{719C9CA2-38A6-A4BF-EF8F-DE68EB426E3F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55;p1">
            <a:extLst>
              <a:ext uri="{FF2B5EF4-FFF2-40B4-BE49-F238E27FC236}">
                <a16:creationId xmlns:a16="http://schemas.microsoft.com/office/drawing/2014/main" id="{FE216998-8CC6-CC58-6CE0-BC7E9D3C93E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56;p1">
            <a:extLst>
              <a:ext uri="{FF2B5EF4-FFF2-40B4-BE49-F238E27FC236}">
                <a16:creationId xmlns:a16="http://schemas.microsoft.com/office/drawing/2014/main" id="{9BD535C8-0DCA-D234-479F-27A451BF968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98383" y="497833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Qualitative and quantitative results — MSG vs MTG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65760" y="86359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A8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“What are the observed advantages and current drawbacks of MTG over MSG?”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65760" y="1302505"/>
            <a:ext cx="3931920" cy="3474720"/>
          </a:xfrm>
          <a:prstGeom prst="rect">
            <a:avLst/>
          </a:prstGeom>
          <a:solidFill>
            <a:srgbClr val="EBF5EB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1302505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MTG advantages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2920" y="1713985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spatial resolution </a:t>
            </a:r>
          </a:p>
          <a:p>
            <a:pPr marL="342900" indent="-342900">
              <a:buSzPct val="10000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Enhanced multi-spectral information for convective signatures</a:t>
            </a:r>
          </a:p>
          <a:p>
            <a:pPr marL="342900" indent="-342900">
              <a:buSzPct val="10000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Comparable training convergence and accuracy to MSG despite shorter operational history</a:t>
            </a:r>
          </a:p>
          <a:p>
            <a:pPr marL="342900" indent="-342900">
              <a:buSzPct val="10000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Lightning predictions show slightly more spatially coherent probability fields</a:t>
            </a:r>
          </a:p>
        </p:txBody>
      </p:sp>
      <p:sp>
        <p:nvSpPr>
          <p:cNvPr id="12" name="Shape 8"/>
          <p:cNvSpPr/>
          <p:nvPr/>
        </p:nvSpPr>
        <p:spPr>
          <a:xfrm>
            <a:off x="4846320" y="1302505"/>
            <a:ext cx="3931920" cy="34747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1302505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drawbacks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983480" y="1713985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Shorter operational data availability (MTG-I1 launched Dec 2022 compared to decades of MSG archive)</a:t>
            </a:r>
          </a:p>
          <a:p>
            <a:pPr marL="342900" indent="-342900">
              <a:buSzPct val="10000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Larger file sizes require chunk-filtering strategy for efficient data ingestion</a:t>
            </a:r>
          </a:p>
          <a:p>
            <a:pPr marL="342900" indent="-342900">
              <a:buSzPct val="10000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Optical flow interpolation introduces synthetic timestamps Radar predictions still dominated by the R&lt;10 class — model struggles to predict higher-intensity classes in both MSG and MTG</a:t>
            </a:r>
          </a:p>
          <a:p>
            <a:pPr marL="342900" indent="-342900">
              <a:buSzPct val="10000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Lightning prediction overestimates spatial extent (high false positive area)</a:t>
            </a:r>
          </a:p>
        </p:txBody>
      </p:sp>
      <p:sp>
        <p:nvSpPr>
          <p:cNvPr id="15" name="Google Shape;58;p1">
            <a:extLst>
              <a:ext uri="{FF2B5EF4-FFF2-40B4-BE49-F238E27FC236}">
                <a16:creationId xmlns:a16="http://schemas.microsoft.com/office/drawing/2014/main" id="{681C1FAE-AC59-1096-633B-E7E7A1A5036C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54;p1">
            <a:extLst>
              <a:ext uri="{FF2B5EF4-FFF2-40B4-BE49-F238E27FC236}">
                <a16:creationId xmlns:a16="http://schemas.microsoft.com/office/drawing/2014/main" id="{60ECE9C8-FE3F-51EC-E8E3-D41CDB3447C6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55;p1">
            <a:extLst>
              <a:ext uri="{FF2B5EF4-FFF2-40B4-BE49-F238E27FC236}">
                <a16:creationId xmlns:a16="http://schemas.microsoft.com/office/drawing/2014/main" id="{C3D6B589-F986-AAB1-2EC6-84CBD617CD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56;p1">
            <a:extLst>
              <a:ext uri="{FF2B5EF4-FFF2-40B4-BE49-F238E27FC236}">
                <a16:creationId xmlns:a16="http://schemas.microsoft.com/office/drawing/2014/main" id="{73D042DC-0F3B-8083-CA64-14CA39078AC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641042" y="847779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Future work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85800" y="1465447"/>
            <a:ext cx="7772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Increase the dataset size with sample diversity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Improve generalization across different synoptic regimes.</a:t>
            </a:r>
          </a:p>
          <a:p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Refine the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knowledge distillation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pipeline for seamless integration of the student model into the operational chain.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Investigate attention-based options derived from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Transformer self-attention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capture long-range spatial dependencies.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Apply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optical flow-based guidance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(similar to the NWP inputs from the original COALITION-4 work) to model predictions as a post-processing step to increase nowcasting skill scores.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Deploy the trained models within ANM’s operational framework, conducting real-time evaluation during the 2026 convective season.</a:t>
            </a: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858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8580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Google Shape;58;p1">
            <a:extLst>
              <a:ext uri="{FF2B5EF4-FFF2-40B4-BE49-F238E27FC236}">
                <a16:creationId xmlns:a16="http://schemas.microsoft.com/office/drawing/2014/main" id="{5C149A4E-617E-0C05-520F-7BE090C50F59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54;p1">
            <a:extLst>
              <a:ext uri="{FF2B5EF4-FFF2-40B4-BE49-F238E27FC236}">
                <a16:creationId xmlns:a16="http://schemas.microsoft.com/office/drawing/2014/main" id="{05742FDB-BC45-2024-3B04-D3E02E25BC03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55;p1">
            <a:extLst>
              <a:ext uri="{FF2B5EF4-FFF2-40B4-BE49-F238E27FC236}">
                <a16:creationId xmlns:a16="http://schemas.microsoft.com/office/drawing/2014/main" id="{1CF31019-DFDD-A45F-7843-FC6A10953B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56;p1">
            <a:extLst>
              <a:ext uri="{FF2B5EF4-FFF2-40B4-BE49-F238E27FC236}">
                <a16:creationId xmlns:a16="http://schemas.microsoft.com/office/drawing/2014/main" id="{18F92032-5702-3060-B06D-F835E944A0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57200" y="70861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Extra activities — EUMETNET E-AI bursary proposal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9829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i="1" dirty="0">
                <a:solidFill>
                  <a:srgbClr val="E8A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“Does Generative AI Map the Hail Trajectory Using Geostationary Satellite, Radar, and Auxiliary Data?”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aims to improve meteorological training datasets to better represent </a:t>
            </a:r>
            <a:r>
              <a:rPr lang="en-US" sz="12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extreme hail events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generative, autoregressive framework for synthesizing physically plausible satellite and radar observations of severe convective hail events, addressing class imbalance in training data for downstream nowcasting systems.</a:t>
            </a: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A — TRecViT U-Net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Recurrent temporal encoder (gated Linear Recurrent Units) coupled with a conditioned diffusion U-Net decoder for radar reflectivity prediction from FCI imagery, with Gaussian noise perturbation as conditioning.</a:t>
            </a: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B — Masked Diffusion Transformer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Generates multi-channel FCI observations conditioned on radar reflectivity. Masking driven by predicted radar field at 30 dBZ threshold, reducing computational cost and focusing generation on active convective regions.</a:t>
            </a: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sources: MTG FCI (10 channels at 1 km), EUMETNET OPERA CIRRUS composites, ESWD hail reports.</a:t>
            </a:r>
          </a:p>
        </p:txBody>
      </p:sp>
      <p:sp>
        <p:nvSpPr>
          <p:cNvPr id="9" name="Google Shape;58;p1">
            <a:extLst>
              <a:ext uri="{FF2B5EF4-FFF2-40B4-BE49-F238E27FC236}">
                <a16:creationId xmlns:a16="http://schemas.microsoft.com/office/drawing/2014/main" id="{0469FAB3-E8A0-F7D3-8C39-02935FB740C8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4;p1">
            <a:extLst>
              <a:ext uri="{FF2B5EF4-FFF2-40B4-BE49-F238E27FC236}">
                <a16:creationId xmlns:a16="http://schemas.microsoft.com/office/drawing/2014/main" id="{72CE09E0-7E6F-A175-5524-26636D121E3D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55;p1">
            <a:extLst>
              <a:ext uri="{FF2B5EF4-FFF2-40B4-BE49-F238E27FC236}">
                <a16:creationId xmlns:a16="http://schemas.microsoft.com/office/drawing/2014/main" id="{5157812B-81E0-03A8-F0BF-1324C38808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56;p1">
            <a:extLst>
              <a:ext uri="{FF2B5EF4-FFF2-40B4-BE49-F238E27FC236}">
                <a16:creationId xmlns:a16="http://schemas.microsoft.com/office/drawing/2014/main" id="{192A56B4-1205-6C0D-81FD-8715BB0838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197318" y="1162251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Extra activities — upcoming conferences and workshops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8640" y="11887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83944" y="1472665"/>
            <a:ext cx="8706051" cy="173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5th ECMWF-ESA Machine Learning Workshop </a:t>
            </a:r>
            <a:r>
              <a:rPr lang="en-US" sz="1200" b="1" dirty="0">
                <a:solidFill>
                  <a:srgbClr val="E8A8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13–17 April 2026  |  Bologna, Italy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European Nowcasting and Weather Forecasting Conference (ENWFC-2026) </a:t>
            </a:r>
            <a:r>
              <a:rPr lang="en-US" sz="1200" b="1" dirty="0">
                <a:solidFill>
                  <a:srgbClr val="E8A8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18–21 May 2026  |  Copenhagen, Denmark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EUMETSAT Meteorological Satellite Conference 2026 </a:t>
            </a:r>
            <a:r>
              <a:rPr lang="en-US" sz="1200" b="1" dirty="0">
                <a:solidFill>
                  <a:srgbClr val="E8A8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21–25 September 2026  |  Darmstadt, Germany</a:t>
            </a:r>
            <a:endParaRPr lang="en-US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8640" y="2560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48640" y="39319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Google Shape;58;p1">
            <a:extLst>
              <a:ext uri="{FF2B5EF4-FFF2-40B4-BE49-F238E27FC236}">
                <a16:creationId xmlns:a16="http://schemas.microsoft.com/office/drawing/2014/main" id="{80A6D23C-B406-2FDD-BBA1-A2DDB50CFA1B}"/>
              </a:ext>
            </a:extLst>
          </p:cNvPr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Bucharest, March 25</a:t>
            </a:r>
            <a:r>
              <a:rPr lang="en-US" sz="900" b="0" i="0" u="none" strike="noStrike" cap="none" baseline="300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900" b="0" i="0" u="none" strike="noStrike" cap="none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900" b="0" i="0" u="none" strike="noStrike" cap="none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54;p1">
            <a:extLst>
              <a:ext uri="{FF2B5EF4-FFF2-40B4-BE49-F238E27FC236}">
                <a16:creationId xmlns:a16="http://schemas.microsoft.com/office/drawing/2014/main" id="{6A336C61-EF4A-AAB8-7F9F-E214F19A9B43}"/>
              </a:ext>
            </a:extLst>
          </p:cNvPr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55;p1">
            <a:extLst>
              <a:ext uri="{FF2B5EF4-FFF2-40B4-BE49-F238E27FC236}">
                <a16:creationId xmlns:a16="http://schemas.microsoft.com/office/drawing/2014/main" id="{04BEE9BF-E8E2-4AC7-F78D-AB5D1C385A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56;p1">
            <a:extLst>
              <a:ext uri="{FF2B5EF4-FFF2-40B4-BE49-F238E27FC236}">
                <a16:creationId xmlns:a16="http://schemas.microsoft.com/office/drawing/2014/main" id="{CBBC2F11-8579-1E8E-FF08-E950FAB9DC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5093BC-2C07-4249-9B4B-0A7ABFD861C0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195000</TotalTime>
  <Words>1572</Words>
  <Application>Microsoft Office PowerPoint</Application>
  <PresentationFormat>On-screen Show (16:9)</PresentationFormat>
  <Paragraphs>198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Third Semestrial Scientific Report - March 2026</dc:title>
  <dc:subject>PptxGenJS Presentation</dc:subject>
  <dc:creator>Claudiu Adam</dc:creator>
  <cp:lastModifiedBy>PC1 Sateliti</cp:lastModifiedBy>
  <cp:revision>51</cp:revision>
  <dcterms:created xsi:type="dcterms:W3CDTF">2026-03-23T20:38:32Z</dcterms:created>
  <dcterms:modified xsi:type="dcterms:W3CDTF">2026-03-31T14:29:13Z</dcterms:modified>
</cp:coreProperties>
</file>